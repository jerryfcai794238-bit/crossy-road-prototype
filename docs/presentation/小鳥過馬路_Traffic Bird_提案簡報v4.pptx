
<file path=[Content_Types].xml><?xml version="1.0" encoding="utf-8"?>
<Types xmlns="http://schemas.openxmlformats.org/package/2006/content-types">
  <Default Extension="gif" ContentType="image/gif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70" r:id="rId3"/>
    <p:sldId id="265" r:id="rId4"/>
    <p:sldId id="258" r:id="rId5"/>
    <p:sldId id="268" r:id="rId6"/>
    <p:sldId id="269" r:id="rId7"/>
    <p:sldId id="267" r:id="rId8"/>
    <p:sldId id="263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7784"/>
    <a:srgbClr val="D7E5E8"/>
    <a:srgbClr val="2F9BD3"/>
    <a:srgbClr val="DDF5F6"/>
    <a:srgbClr val="FFF4D6"/>
    <a:srgbClr val="F8C4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121" autoAdjust="0"/>
  </p:normalViewPr>
  <p:slideViewPr>
    <p:cSldViewPr snapToGrid="0">
      <p:cViewPr varScale="1">
        <p:scale>
          <a:sx n="102" d="100"/>
          <a:sy n="102" d="100"/>
        </p:scale>
        <p:origin x="9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今天要提案的是</a:t>
            </a:r>
            <a:r>
              <a:rPr lang="en-US" altLang="zh-TW" dirty="0"/>
              <a:t>《</a:t>
            </a:r>
            <a:r>
              <a:rPr lang="zh-TW" altLang="en-US" dirty="0"/>
              <a:t>小鳥過馬路</a:t>
            </a:r>
            <a:r>
              <a:rPr lang="en-US" altLang="zh-TW" dirty="0"/>
              <a:t>》</a:t>
            </a:r>
            <a:r>
              <a:rPr lang="zh-TW" altLang="en-US" dirty="0"/>
              <a:t>，希望以原本直覺的過馬路玩法為基礎，擴充成 </a:t>
            </a:r>
            <a:r>
              <a:rPr lang="en-US" altLang="zh-TW" dirty="0"/>
              <a:t>5 </a:t>
            </a:r>
            <a:r>
              <a:rPr lang="zh-TW" altLang="en-US" dirty="0"/>
              <a:t>人同時遊玩的多人派對遊戲。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5B635-9080-4C0C-F02A-6B660DA0E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B12AB2-BF31-F977-B35F-41AAB9F84C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275BB1-EDDC-FB44-9C94-359721351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今天會先快速看原本的核心玩法，再說明我們如何透過多人化，以及動態場景、體力、道具三個擴充，把它轉變成多人派對體驗。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E9F81-D17D-6FBF-E2F9-8824EDA01C8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228978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359C6-1A15-DCE4-6A21-04F7C4148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C24B33-3C24-94E4-4EF7-1785FD4B27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5A7AFF-B0F9-2C09-78B6-E229330E14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今天會先快速看原本的核心玩法，再說明我們如何透過多人化，以及動態場景、體力、道具三個擴充，把它轉變成多人派對體驗。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16C43-FA5E-3891-CEA9-604A44F6C8D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266058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競品原本以單人穿越道路、閃避障礙為主要體驗，操作直覺、理解門檻低。我們會保留這個核心，再加入 </a:t>
            </a:r>
            <a:r>
              <a:rPr lang="en-US" altLang="zh-TW" dirty="0"/>
              <a:t>5 </a:t>
            </a:r>
            <a:r>
              <a:rPr lang="zh-TW" altLang="en-US" dirty="0"/>
              <a:t>人同場競爭，讓原本的個人反應挑戰變成多人派對玩法。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8224F-09CA-DFE9-891F-8BC31AF48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3DFAAD-167B-A4B8-5614-DA6D9289F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1FB854-7181-D0CE-E2D1-E64EB79954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單人玩法加入 </a:t>
            </a:r>
            <a:r>
              <a:rPr lang="en-US" altLang="zh-TW" dirty="0"/>
              <a:t>5 </a:t>
            </a:r>
            <a:r>
              <a:rPr lang="zh-TW" altLang="en-US" dirty="0"/>
              <a:t>人同場後，核心不只是一起前進，而是大家會爭奪安全路線、彼此推擠。失足後會回安全點重新加入，因此每位玩家都能持續追趕，直到 </a:t>
            </a:r>
            <a:r>
              <a:rPr lang="en-US" altLang="zh-TW" dirty="0"/>
              <a:t>120 </a:t>
            </a:r>
            <a:r>
              <a:rPr lang="zh-TW" altLang="en-US" dirty="0"/>
              <a:t>秒結束依距離排名。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4BFAF-2D77-83F7-2B2D-3972640E882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661489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0F562-51C5-99D6-DF17-1794E550E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449F11-C07F-ECA0-4AE0-F4C27AA142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ABBD66-D7FD-805C-79D7-0E4792931D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三個系統分別放大多人玩法的變化、決策與互動：動態場景讓大家搶路，體力讓移動時機有取捨，道具則讓玩家保護自己或直接影響局勢。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73742-B235-A5B8-260A-ACB2009A8D1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654438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6F1CC-5005-2083-84D1-3BBC28E73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BF53D4-EE02-6D46-5D81-A1E63A3863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B954B3-5B38-EEA7-4F6C-C9C7E134B6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dirty="0"/>
              <a:t>讓單人閃避，變成充滿搶路、互動、追趕與反轉的多人派對體驗。</a:t>
            </a:r>
            <a:endParaRPr lang="zh-TW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24A557-9DE5-8489-2DA7-620680A970E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86975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Q&amp;A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2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2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gif"/><Relationship Id="rId4" Type="http://schemas.openxmlformats.org/officeDocument/2006/relationships/image" Target="../media/image6.gi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7A220056-ECC7-4E2A-A50B-C90278794C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oundRect">
            <a:avLst>
              <a:gd name="adj" fmla="val 50000"/>
            </a:avLst>
          </a:prstGeom>
          <a:solidFill>
            <a:srgbClr val="DDF5F6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D4B4F827-ECD7-40A1-AE26-122B05A95F58}"/>
              </a:ext>
            </a:extLst>
          </p:cNvPr>
          <p:cNvSpPr>
            <a:spLocks noGrp="1"/>
          </p:cNvSpPr>
          <p:nvPr/>
        </p:nvSpPr>
        <p:spPr>
          <a:xfrm>
            <a:off x="8210550" y="1123950"/>
            <a:ext cx="2667000" cy="2667000"/>
          </a:xfrm>
          <a:prstGeom prst="ellipse">
            <a:avLst/>
          </a:prstGeom>
          <a:solidFill>
            <a:srgbClr val="DDF5F6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7F17AC03-5E5C-4E2C-9123-E53456B9E332}"/>
              </a:ext>
            </a:extLst>
          </p:cNvPr>
          <p:cNvSpPr>
            <a:spLocks noGrp="1"/>
          </p:cNvSpPr>
          <p:nvPr/>
        </p:nvSpPr>
        <p:spPr>
          <a:xfrm>
            <a:off x="9067800" y="2038350"/>
            <a:ext cx="2667000" cy="2667000"/>
          </a:xfrm>
          <a:prstGeom prst="ellipse">
            <a:avLst/>
          </a:prstGeom>
          <a:solidFill>
            <a:srgbClr val="FFF4D6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D3BC3EE3-EE55-46DA-A91A-B3DA17B8FAE2}"/>
              </a:ext>
            </a:extLst>
          </p:cNvPr>
          <p:cNvSpPr>
            <a:spLocks noGrp="1"/>
          </p:cNvSpPr>
          <p:nvPr/>
        </p:nvSpPr>
        <p:spPr>
          <a:xfrm>
            <a:off x="8267700" y="1714500"/>
            <a:ext cx="2381250" cy="1638300"/>
          </a:xfrm>
          <a:prstGeom prst="roundRect">
            <a:avLst>
              <a:gd name="adj" fmla="val 9302"/>
            </a:avLst>
          </a:prstGeom>
          <a:solidFill>
            <a:srgbClr val="2F9BD3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327A669D-9296-4FF3-AAA3-9D7FC6D2125C}"/>
              </a:ext>
            </a:extLst>
          </p:cNvPr>
          <p:cNvSpPr>
            <a:spLocks noGrp="1"/>
          </p:cNvSpPr>
          <p:nvPr/>
        </p:nvSpPr>
        <p:spPr>
          <a:xfrm>
            <a:off x="8496300" y="1924050"/>
            <a:ext cx="1924050" cy="114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8F713EED-2E73-42E5-A88D-9DF3554814C3}"/>
              </a:ext>
            </a:extLst>
          </p:cNvPr>
          <p:cNvSpPr>
            <a:spLocks noGrp="1"/>
          </p:cNvSpPr>
          <p:nvPr/>
        </p:nvSpPr>
        <p:spPr>
          <a:xfrm>
            <a:off x="8496300" y="2343150"/>
            <a:ext cx="1924050" cy="114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DC12E41C-43F5-4992-B0D8-37C41EDCC5AA}"/>
              </a:ext>
            </a:extLst>
          </p:cNvPr>
          <p:cNvSpPr>
            <a:spLocks noGrp="1"/>
          </p:cNvSpPr>
          <p:nvPr/>
        </p:nvSpPr>
        <p:spPr>
          <a:xfrm>
            <a:off x="8496300" y="2762250"/>
            <a:ext cx="1924050" cy="114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D711018-17F0-4A4E-B779-B427AE4ED32A}"/>
              </a:ext>
            </a:extLst>
          </p:cNvPr>
          <p:cNvSpPr>
            <a:spLocks noGrp="1"/>
          </p:cNvSpPr>
          <p:nvPr/>
        </p:nvSpPr>
        <p:spPr>
          <a:xfrm>
            <a:off x="876300" y="1571625"/>
            <a:ext cx="64770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405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4050" b="1" dirty="0" err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小鳥過馬路</a:t>
            </a:r>
            <a:endParaRPr sz="4050" b="1" dirty="0">
              <a:solidFill>
                <a:srgbClr val="17344D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E32912E-0F8E-4CD9-B40B-6DAB9F2904CB}"/>
              </a:ext>
            </a:extLst>
          </p:cNvPr>
          <p:cNvSpPr>
            <a:spLocks noGrp="1"/>
          </p:cNvSpPr>
          <p:nvPr/>
        </p:nvSpPr>
        <p:spPr>
          <a:xfrm>
            <a:off x="914400" y="2409825"/>
            <a:ext cx="49530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40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 dirty="0">
                <a:solidFill>
                  <a:srgbClr val="2F9BD3"/>
                </a:solidFill>
                <a:latin typeface="Noto Sans TC"/>
                <a:ea typeface="Noto Sans TC"/>
                <a:cs typeface="Noto Sans TC"/>
              </a:rPr>
              <a:t>Traffic Bird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D8F5E0A-924B-439C-B42B-BE6B589E83C0}"/>
              </a:ext>
            </a:extLst>
          </p:cNvPr>
          <p:cNvSpPr>
            <a:spLocks noGrp="1"/>
          </p:cNvSpPr>
          <p:nvPr/>
        </p:nvSpPr>
        <p:spPr>
          <a:xfrm>
            <a:off x="876300" y="3333750"/>
            <a:ext cx="3714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>
              <a:defRPr sz="1350" b="0">
                <a:solidFill>
                  <a:srgbClr val="263440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en-US" sz="1600" dirty="0">
                <a:solidFill>
                  <a:srgbClr val="263440"/>
                </a:solidFill>
                <a:latin typeface="Noto Sans TC"/>
                <a:ea typeface="Noto Sans TC"/>
                <a:cs typeface="Noto Sans TC"/>
              </a:rPr>
              <a:t>以直覺過馬路玩法，延伸 </a:t>
            </a:r>
            <a:r>
              <a:rPr lang="en-US" altLang="zh-TW" sz="1600" dirty="0">
                <a:solidFill>
                  <a:srgbClr val="263440"/>
                </a:solidFill>
                <a:latin typeface="Noto Sans TC"/>
                <a:ea typeface="Noto Sans TC"/>
                <a:cs typeface="Noto Sans TC"/>
              </a:rPr>
              <a:t>5 </a:t>
            </a:r>
            <a:r>
              <a:rPr lang="zh-TW" altLang="en-US" sz="1600" dirty="0">
                <a:solidFill>
                  <a:srgbClr val="263440"/>
                </a:solidFill>
                <a:latin typeface="Noto Sans TC"/>
                <a:ea typeface="Noto Sans TC"/>
                <a:cs typeface="Noto Sans TC"/>
              </a:rPr>
              <a:t>人同場競爭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3363D7B-6206-47AB-BEE3-E9A6AAB0E565}"/>
              </a:ext>
            </a:extLst>
          </p:cNvPr>
          <p:cNvSpPr>
            <a:spLocks noGrp="1"/>
          </p:cNvSpPr>
          <p:nvPr/>
        </p:nvSpPr>
        <p:spPr>
          <a:xfrm>
            <a:off x="914400" y="5610225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1400" b="0" dirty="0" err="1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研發三部</a:t>
            </a:r>
            <a:r>
              <a:rPr sz="1400" b="0" dirty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 2組  </a:t>
            </a:r>
            <a:r>
              <a:rPr sz="1400" b="0" dirty="0" err="1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高帆君</a:t>
            </a:r>
            <a:endParaRPr sz="1400" b="0" dirty="0">
              <a:solidFill>
                <a:srgbClr val="657784"/>
              </a:solidFill>
              <a:latin typeface="Noto Sans TC"/>
              <a:ea typeface="Noto Sans TC"/>
              <a:cs typeface="Noto Sans TC"/>
            </a:endParaRPr>
          </a:p>
        </p:txBody>
      </p:sp>
    </p:spTree>
    <p:extLst>
      <p:ext uri="{BB962C8B-B14F-4D97-AF65-F5344CB8AC3E}">
        <p14:creationId xmlns:p14="http://schemas.microsoft.com/office/powerpoint/2010/main" val="97662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BFA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A33505-231D-C064-473C-85EF8B3BF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圖片 58">
            <a:extLst>
              <a:ext uri="{FF2B5EF4-FFF2-40B4-BE49-F238E27FC236}">
                <a16:creationId xmlns:a16="http://schemas.microsoft.com/office/drawing/2014/main" id="{545AEDC1-758F-8C06-A3DD-2D54ABD09C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1651791"/>
            <a:ext cx="12185522" cy="5133972"/>
          </a:xfrm>
          <a:prstGeom prst="rect">
            <a:avLst/>
          </a:prstGeom>
        </p:spPr>
      </p:pic>
      <p:sp>
        <p:nvSpPr>
          <p:cNvPr id="30" name="矩形 29">
            <a:extLst>
              <a:ext uri="{FF2B5EF4-FFF2-40B4-BE49-F238E27FC236}">
                <a16:creationId xmlns:a16="http://schemas.microsoft.com/office/drawing/2014/main" id="{F3CE6355-2439-6FB7-F53B-DDA4C429300C}"/>
              </a:ext>
            </a:extLst>
          </p:cNvPr>
          <p:cNvSpPr>
            <a:spLocks noGrp="1"/>
          </p:cNvSpPr>
          <p:nvPr/>
        </p:nvSpPr>
        <p:spPr>
          <a:xfrm>
            <a:off x="723900" y="495300"/>
            <a:ext cx="8382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55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2800" b="1" dirty="0" err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目錄</a:t>
            </a:r>
            <a:endParaRPr sz="2800" b="1" dirty="0">
              <a:solidFill>
                <a:srgbClr val="17344D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EC9C7AA8-63E2-05E1-8177-04C3C77F6C5D}"/>
              </a:ext>
            </a:extLst>
          </p:cNvPr>
          <p:cNvSpPr>
            <a:spLocks noGrp="1"/>
          </p:cNvSpPr>
          <p:nvPr/>
        </p:nvSpPr>
        <p:spPr>
          <a:xfrm>
            <a:off x="723900" y="1133475"/>
            <a:ext cx="628650" cy="57150"/>
          </a:xfrm>
          <a:prstGeom prst="roundRect">
            <a:avLst>
              <a:gd name="adj" fmla="val 50000"/>
            </a:avLst>
          </a:prstGeom>
          <a:solidFill>
            <a:srgbClr val="F8C449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直線接點 26">
            <a:extLst>
              <a:ext uri="{FF2B5EF4-FFF2-40B4-BE49-F238E27FC236}">
                <a16:creationId xmlns:a16="http://schemas.microsoft.com/office/drawing/2014/main" id="{07F72E33-1DD9-D9BB-D99A-DB457F438BAB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10744200" cy="0"/>
          </a:xfrm>
          <a:prstGeom prst="line">
            <a:avLst/>
          </a:prstGeom>
          <a:noFill/>
          <a:ln w="9525">
            <a:solidFill>
              <a:srgbClr val="D7E5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8A727BE-0C27-CA97-8A4E-02772C4326D9}"/>
              </a:ext>
            </a:extLst>
          </p:cNvPr>
          <p:cNvSpPr>
            <a:spLocks noGrp="1"/>
          </p:cNvSpPr>
          <p:nvPr/>
        </p:nvSpPr>
        <p:spPr>
          <a:xfrm>
            <a:off x="723900" y="6467475"/>
            <a:ext cx="4762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 dirty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Traffic </a:t>
            </a:r>
            <a:r>
              <a:rPr sz="825" b="0" dirty="0" err="1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Bird｜多人派對玩法提案</a:t>
            </a:r>
            <a:endParaRPr sz="825" b="0" dirty="0">
              <a:solidFill>
                <a:srgbClr val="657784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EF0137F-882C-2167-845E-C92DABB70264}"/>
              </a:ext>
            </a:extLst>
          </p:cNvPr>
          <p:cNvSpPr>
            <a:spLocks noGrp="1"/>
          </p:cNvSpPr>
          <p:nvPr/>
        </p:nvSpPr>
        <p:spPr>
          <a:xfrm>
            <a:off x="10953750" y="6467475"/>
            <a:ext cx="5143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pic>
        <p:nvPicPr>
          <p:cNvPr id="43" name="圖片 42">
            <a:extLst>
              <a:ext uri="{FF2B5EF4-FFF2-40B4-BE49-F238E27FC236}">
                <a16:creationId xmlns:a16="http://schemas.microsoft.com/office/drawing/2014/main" id="{16B8E885-093C-22E9-F448-0C2F1648ED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300000" flipH="1" flipV="1">
            <a:off x="1212797" y="5445451"/>
            <a:ext cx="908880" cy="908880"/>
          </a:xfrm>
          <a:prstGeom prst="rect">
            <a:avLst/>
          </a:prstGeom>
        </p:spPr>
      </p:pic>
      <p:sp>
        <p:nvSpPr>
          <p:cNvPr id="72" name="矩形 71">
            <a:extLst>
              <a:ext uri="{FF2B5EF4-FFF2-40B4-BE49-F238E27FC236}">
                <a16:creationId xmlns:a16="http://schemas.microsoft.com/office/drawing/2014/main" id="{BB8AD76E-8038-D396-60CB-2A4D5A8580A7}"/>
              </a:ext>
            </a:extLst>
          </p:cNvPr>
          <p:cNvSpPr>
            <a:spLocks noGrp="1"/>
          </p:cNvSpPr>
          <p:nvPr/>
        </p:nvSpPr>
        <p:spPr>
          <a:xfrm>
            <a:off x="765990" y="4176980"/>
            <a:ext cx="1800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75" b="0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2000" dirty="0" err="1">
                <a:solidFill>
                  <a:srgbClr val="00206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TC"/>
              </a:rPr>
              <a:t>競品玩法</a:t>
            </a:r>
            <a:endParaRPr sz="2000" dirty="0">
              <a:solidFill>
                <a:srgbClr val="002060"/>
              </a:solidFill>
              <a:latin typeface="Noto Sans TC" panose="020B0200000000000000" pitchFamily="34" charset="-120"/>
              <a:ea typeface="Noto Sans TC" panose="020B0200000000000000" pitchFamily="34" charset="-120"/>
              <a:cs typeface="Noto Sans TC"/>
            </a:endParaRPr>
          </a:p>
        </p:txBody>
      </p: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B6B6606C-A377-B14B-8201-169CFCC1FD42}"/>
              </a:ext>
            </a:extLst>
          </p:cNvPr>
          <p:cNvCxnSpPr>
            <a:cxnSpLocks/>
          </p:cNvCxnSpPr>
          <p:nvPr/>
        </p:nvCxnSpPr>
        <p:spPr>
          <a:xfrm flipH="1" flipV="1">
            <a:off x="1665990" y="4615130"/>
            <a:ext cx="1247" cy="785544"/>
          </a:xfrm>
          <a:prstGeom prst="line">
            <a:avLst/>
          </a:prstGeom>
          <a:ln>
            <a:solidFill>
              <a:srgbClr val="D7E5E8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0" name="圖片 89">
            <a:extLst>
              <a:ext uri="{FF2B5EF4-FFF2-40B4-BE49-F238E27FC236}">
                <a16:creationId xmlns:a16="http://schemas.microsoft.com/office/drawing/2014/main" id="{B6A7C6F7-3F28-19D5-C192-C5570C4E41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4400000" flipV="1">
            <a:off x="3411173" y="4697470"/>
            <a:ext cx="908882" cy="908880"/>
          </a:xfrm>
          <a:prstGeom prst="rect">
            <a:avLst/>
          </a:prstGeom>
        </p:spPr>
      </p:pic>
      <p:sp>
        <p:nvSpPr>
          <p:cNvPr id="91" name="矩形 90">
            <a:extLst>
              <a:ext uri="{FF2B5EF4-FFF2-40B4-BE49-F238E27FC236}">
                <a16:creationId xmlns:a16="http://schemas.microsoft.com/office/drawing/2014/main" id="{8DCEAD93-FEDD-A672-4A79-A6213B538D0A}"/>
              </a:ext>
            </a:extLst>
          </p:cNvPr>
          <p:cNvSpPr>
            <a:spLocks noGrp="1"/>
          </p:cNvSpPr>
          <p:nvPr/>
        </p:nvSpPr>
        <p:spPr>
          <a:xfrm>
            <a:off x="2964367" y="3429000"/>
            <a:ext cx="1800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75" b="0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en-US" sz="2000" dirty="0">
                <a:solidFill>
                  <a:srgbClr val="00206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TC"/>
              </a:rPr>
              <a:t>多人核心循環</a:t>
            </a:r>
            <a:endParaRPr sz="2000" dirty="0">
              <a:solidFill>
                <a:srgbClr val="002060"/>
              </a:solidFill>
              <a:latin typeface="Noto Sans TC" panose="020B0200000000000000" pitchFamily="34" charset="-120"/>
              <a:ea typeface="Noto Sans TC" panose="020B0200000000000000" pitchFamily="34" charset="-120"/>
              <a:cs typeface="Noto Sans TC"/>
            </a:endParaRPr>
          </a:p>
        </p:txBody>
      </p:sp>
      <p:cxnSp>
        <p:nvCxnSpPr>
          <p:cNvPr id="92" name="直線接點 91">
            <a:extLst>
              <a:ext uri="{FF2B5EF4-FFF2-40B4-BE49-F238E27FC236}">
                <a16:creationId xmlns:a16="http://schemas.microsoft.com/office/drawing/2014/main" id="{6B213B77-58E3-7A92-D8C8-A8CF0B4493E6}"/>
              </a:ext>
            </a:extLst>
          </p:cNvPr>
          <p:cNvCxnSpPr>
            <a:cxnSpLocks/>
          </p:cNvCxnSpPr>
          <p:nvPr/>
        </p:nvCxnSpPr>
        <p:spPr>
          <a:xfrm flipH="1" flipV="1">
            <a:off x="3864367" y="3867150"/>
            <a:ext cx="1247" cy="785544"/>
          </a:xfrm>
          <a:prstGeom prst="line">
            <a:avLst/>
          </a:prstGeom>
          <a:ln>
            <a:solidFill>
              <a:srgbClr val="D7E5E8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3" name="圖片 92">
            <a:extLst>
              <a:ext uri="{FF2B5EF4-FFF2-40B4-BE49-F238E27FC236}">
                <a16:creationId xmlns:a16="http://schemas.microsoft.com/office/drawing/2014/main" id="{E33764BB-AC37-929B-26F7-25662F654D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300000" flipH="1" flipV="1">
            <a:off x="5609551" y="4137679"/>
            <a:ext cx="908880" cy="908880"/>
          </a:xfrm>
          <a:prstGeom prst="rect">
            <a:avLst/>
          </a:prstGeom>
        </p:spPr>
      </p:pic>
      <p:sp>
        <p:nvSpPr>
          <p:cNvPr id="94" name="矩形 93">
            <a:extLst>
              <a:ext uri="{FF2B5EF4-FFF2-40B4-BE49-F238E27FC236}">
                <a16:creationId xmlns:a16="http://schemas.microsoft.com/office/drawing/2014/main" id="{5B2F9C49-D7E4-11B8-700E-FC80FC6A5910}"/>
              </a:ext>
            </a:extLst>
          </p:cNvPr>
          <p:cNvSpPr>
            <a:spLocks noGrp="1"/>
          </p:cNvSpPr>
          <p:nvPr/>
        </p:nvSpPr>
        <p:spPr>
          <a:xfrm>
            <a:off x="5162744" y="2869208"/>
            <a:ext cx="1800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75" b="0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en-US" sz="2000" dirty="0">
                <a:solidFill>
                  <a:srgbClr val="00206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TC"/>
              </a:rPr>
              <a:t>三大玩法擴充</a:t>
            </a:r>
            <a:endParaRPr sz="2000" dirty="0">
              <a:solidFill>
                <a:srgbClr val="002060"/>
              </a:solidFill>
              <a:latin typeface="Noto Sans TC" panose="020B0200000000000000" pitchFamily="34" charset="-120"/>
              <a:ea typeface="Noto Sans TC" panose="020B0200000000000000" pitchFamily="34" charset="-120"/>
              <a:cs typeface="Noto Sans TC"/>
            </a:endParaRPr>
          </a:p>
        </p:txBody>
      </p:sp>
      <p:cxnSp>
        <p:nvCxnSpPr>
          <p:cNvPr id="95" name="直線接點 94">
            <a:extLst>
              <a:ext uri="{FF2B5EF4-FFF2-40B4-BE49-F238E27FC236}">
                <a16:creationId xmlns:a16="http://schemas.microsoft.com/office/drawing/2014/main" id="{83CC0644-9519-C131-26EF-F8EAE62B42C2}"/>
              </a:ext>
            </a:extLst>
          </p:cNvPr>
          <p:cNvCxnSpPr>
            <a:cxnSpLocks/>
          </p:cNvCxnSpPr>
          <p:nvPr/>
        </p:nvCxnSpPr>
        <p:spPr>
          <a:xfrm flipH="1" flipV="1">
            <a:off x="6062744" y="3307358"/>
            <a:ext cx="1247" cy="785544"/>
          </a:xfrm>
          <a:prstGeom prst="line">
            <a:avLst/>
          </a:prstGeom>
          <a:ln>
            <a:solidFill>
              <a:srgbClr val="D7E5E8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6" name="圖片 95">
            <a:extLst>
              <a:ext uri="{FF2B5EF4-FFF2-40B4-BE49-F238E27FC236}">
                <a16:creationId xmlns:a16="http://schemas.microsoft.com/office/drawing/2014/main" id="{E0BAE9AE-5E3B-EA2E-A190-C8A8EE6E6D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4400000" flipH="1" flipV="1">
            <a:off x="7807928" y="3433163"/>
            <a:ext cx="908880" cy="908880"/>
          </a:xfrm>
          <a:prstGeom prst="rect">
            <a:avLst/>
          </a:prstGeom>
        </p:spPr>
      </p:pic>
      <p:sp>
        <p:nvSpPr>
          <p:cNvPr id="97" name="矩形 96">
            <a:extLst>
              <a:ext uri="{FF2B5EF4-FFF2-40B4-BE49-F238E27FC236}">
                <a16:creationId xmlns:a16="http://schemas.microsoft.com/office/drawing/2014/main" id="{61E991DC-AE34-42DD-C72A-098D62105827}"/>
              </a:ext>
            </a:extLst>
          </p:cNvPr>
          <p:cNvSpPr>
            <a:spLocks noGrp="1"/>
          </p:cNvSpPr>
          <p:nvPr/>
        </p:nvSpPr>
        <p:spPr>
          <a:xfrm>
            <a:off x="7361121" y="2164692"/>
            <a:ext cx="1800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75" b="0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en-US" sz="2000" dirty="0">
                <a:solidFill>
                  <a:srgbClr val="00206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TC"/>
              </a:rPr>
              <a:t>整合樂趣</a:t>
            </a:r>
            <a:endParaRPr sz="2000" dirty="0">
              <a:solidFill>
                <a:srgbClr val="002060"/>
              </a:solidFill>
              <a:latin typeface="Noto Sans TC" panose="020B0200000000000000" pitchFamily="34" charset="-120"/>
              <a:ea typeface="Noto Sans TC" panose="020B0200000000000000" pitchFamily="34" charset="-120"/>
              <a:cs typeface="Noto Sans TC"/>
            </a:endParaRPr>
          </a:p>
        </p:txBody>
      </p:sp>
      <p:cxnSp>
        <p:nvCxnSpPr>
          <p:cNvPr id="98" name="直線接點 97">
            <a:extLst>
              <a:ext uri="{FF2B5EF4-FFF2-40B4-BE49-F238E27FC236}">
                <a16:creationId xmlns:a16="http://schemas.microsoft.com/office/drawing/2014/main" id="{F4B9E5D4-2D48-3808-315D-2B7626E5109F}"/>
              </a:ext>
            </a:extLst>
          </p:cNvPr>
          <p:cNvCxnSpPr>
            <a:cxnSpLocks/>
          </p:cNvCxnSpPr>
          <p:nvPr/>
        </p:nvCxnSpPr>
        <p:spPr>
          <a:xfrm flipH="1" flipV="1">
            <a:off x="8261121" y="2602842"/>
            <a:ext cx="1247" cy="785544"/>
          </a:xfrm>
          <a:prstGeom prst="line">
            <a:avLst/>
          </a:prstGeom>
          <a:ln>
            <a:solidFill>
              <a:srgbClr val="D7E5E8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9" name="圖片 98">
            <a:extLst>
              <a:ext uri="{FF2B5EF4-FFF2-40B4-BE49-F238E27FC236}">
                <a16:creationId xmlns:a16="http://schemas.microsoft.com/office/drawing/2014/main" id="{927B3976-0D90-7F6A-C664-50BDAB3E90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300000" flipV="1">
            <a:off x="10006303" y="2335229"/>
            <a:ext cx="908882" cy="908880"/>
          </a:xfrm>
          <a:prstGeom prst="rect">
            <a:avLst/>
          </a:prstGeom>
        </p:spPr>
      </p:pic>
      <p:sp>
        <p:nvSpPr>
          <p:cNvPr id="100" name="矩形 99">
            <a:extLst>
              <a:ext uri="{FF2B5EF4-FFF2-40B4-BE49-F238E27FC236}">
                <a16:creationId xmlns:a16="http://schemas.microsoft.com/office/drawing/2014/main" id="{FDFCBC4A-791D-59C5-F8EA-D52E43D5C2B6}"/>
              </a:ext>
            </a:extLst>
          </p:cNvPr>
          <p:cNvSpPr>
            <a:spLocks noGrp="1"/>
          </p:cNvSpPr>
          <p:nvPr/>
        </p:nvSpPr>
        <p:spPr>
          <a:xfrm>
            <a:off x="9559497" y="1066759"/>
            <a:ext cx="1800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75" b="0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endParaRPr sz="2000" dirty="0">
              <a:solidFill>
                <a:srgbClr val="002060"/>
              </a:solidFill>
              <a:latin typeface="Noto Sans TC" panose="020B0200000000000000" pitchFamily="34" charset="-120"/>
              <a:ea typeface="Noto Sans TC" panose="020B0200000000000000" pitchFamily="34" charset="-120"/>
              <a:cs typeface="Noto Sans TC"/>
            </a:endParaRPr>
          </a:p>
        </p:txBody>
      </p:sp>
      <p:cxnSp>
        <p:nvCxnSpPr>
          <p:cNvPr id="101" name="直線接點 100">
            <a:extLst>
              <a:ext uri="{FF2B5EF4-FFF2-40B4-BE49-F238E27FC236}">
                <a16:creationId xmlns:a16="http://schemas.microsoft.com/office/drawing/2014/main" id="{844A6A99-A98C-72E5-DDE2-DFAD115FF377}"/>
              </a:ext>
            </a:extLst>
          </p:cNvPr>
          <p:cNvCxnSpPr>
            <a:cxnSpLocks/>
          </p:cNvCxnSpPr>
          <p:nvPr/>
        </p:nvCxnSpPr>
        <p:spPr>
          <a:xfrm flipH="1" flipV="1">
            <a:off x="10459497" y="1504909"/>
            <a:ext cx="1247" cy="785544"/>
          </a:xfrm>
          <a:prstGeom prst="line">
            <a:avLst/>
          </a:prstGeom>
          <a:ln>
            <a:solidFill>
              <a:srgbClr val="D7E5E8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9229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3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2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3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2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3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2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3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00"/>
                            </p:stCondLst>
                            <p:childTnLst>
                              <p:par>
                                <p:cTn id="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2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91" grpId="0"/>
      <p:bldP spid="94" grpId="0"/>
      <p:bldP spid="97" grpId="0"/>
      <p:bldP spid="10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C69B44-7CCA-36A9-5F31-5F874CC01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圖片 58">
            <a:extLst>
              <a:ext uri="{FF2B5EF4-FFF2-40B4-BE49-F238E27FC236}">
                <a16:creationId xmlns:a16="http://schemas.microsoft.com/office/drawing/2014/main" id="{ECF5C9A0-2C62-123F-90E0-4891BB9641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1651791"/>
            <a:ext cx="12185522" cy="5133972"/>
          </a:xfrm>
          <a:prstGeom prst="rect">
            <a:avLst/>
          </a:prstGeom>
        </p:spPr>
      </p:pic>
      <p:sp>
        <p:nvSpPr>
          <p:cNvPr id="30" name="矩形 29">
            <a:extLst>
              <a:ext uri="{FF2B5EF4-FFF2-40B4-BE49-F238E27FC236}">
                <a16:creationId xmlns:a16="http://schemas.microsoft.com/office/drawing/2014/main" id="{ABCB6729-CC60-73E4-2A64-B030729BFFE7}"/>
              </a:ext>
            </a:extLst>
          </p:cNvPr>
          <p:cNvSpPr>
            <a:spLocks noGrp="1"/>
          </p:cNvSpPr>
          <p:nvPr/>
        </p:nvSpPr>
        <p:spPr>
          <a:xfrm>
            <a:off x="723900" y="495300"/>
            <a:ext cx="8382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55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2800" b="1" dirty="0" err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目錄</a:t>
            </a:r>
            <a:endParaRPr sz="2800" b="1" dirty="0">
              <a:solidFill>
                <a:srgbClr val="17344D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172797EF-45AA-4959-F68F-C97769F80A18}"/>
              </a:ext>
            </a:extLst>
          </p:cNvPr>
          <p:cNvSpPr>
            <a:spLocks noGrp="1"/>
          </p:cNvSpPr>
          <p:nvPr/>
        </p:nvSpPr>
        <p:spPr>
          <a:xfrm>
            <a:off x="723900" y="1133475"/>
            <a:ext cx="628650" cy="57150"/>
          </a:xfrm>
          <a:prstGeom prst="roundRect">
            <a:avLst>
              <a:gd name="adj" fmla="val 50000"/>
            </a:avLst>
          </a:prstGeom>
          <a:solidFill>
            <a:srgbClr val="F8C449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直線接點 26">
            <a:extLst>
              <a:ext uri="{FF2B5EF4-FFF2-40B4-BE49-F238E27FC236}">
                <a16:creationId xmlns:a16="http://schemas.microsoft.com/office/drawing/2014/main" id="{310E1EAB-7A8C-CF0F-54F3-E4567130B9D3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10744200" cy="0"/>
          </a:xfrm>
          <a:prstGeom prst="line">
            <a:avLst/>
          </a:prstGeom>
          <a:noFill/>
          <a:ln w="9525">
            <a:solidFill>
              <a:srgbClr val="D7E5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DA5ECB5-1541-77C2-8B61-3A1ACE3856A9}"/>
              </a:ext>
            </a:extLst>
          </p:cNvPr>
          <p:cNvSpPr>
            <a:spLocks noGrp="1"/>
          </p:cNvSpPr>
          <p:nvPr/>
        </p:nvSpPr>
        <p:spPr>
          <a:xfrm>
            <a:off x="723900" y="6467475"/>
            <a:ext cx="4762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 dirty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Traffic </a:t>
            </a:r>
            <a:r>
              <a:rPr sz="825" b="0" dirty="0" err="1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Bird｜多人派對玩法提案</a:t>
            </a:r>
            <a:endParaRPr sz="825" b="0" dirty="0">
              <a:solidFill>
                <a:srgbClr val="657784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64960FF-1251-4D6C-C3AF-066FCCEDEF5E}"/>
              </a:ext>
            </a:extLst>
          </p:cNvPr>
          <p:cNvSpPr>
            <a:spLocks noGrp="1"/>
          </p:cNvSpPr>
          <p:nvPr/>
        </p:nvSpPr>
        <p:spPr>
          <a:xfrm>
            <a:off x="10953750" y="6467475"/>
            <a:ext cx="5143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pic>
        <p:nvPicPr>
          <p:cNvPr id="43" name="圖片 42">
            <a:extLst>
              <a:ext uri="{FF2B5EF4-FFF2-40B4-BE49-F238E27FC236}">
                <a16:creationId xmlns:a16="http://schemas.microsoft.com/office/drawing/2014/main" id="{C02D0D9C-1AFE-EAAF-C513-79D7C765FD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300000" flipH="1" flipV="1">
            <a:off x="1212797" y="5445451"/>
            <a:ext cx="908880" cy="908880"/>
          </a:xfrm>
          <a:prstGeom prst="rect">
            <a:avLst/>
          </a:prstGeom>
        </p:spPr>
      </p:pic>
      <p:sp>
        <p:nvSpPr>
          <p:cNvPr id="72" name="矩形 71">
            <a:extLst>
              <a:ext uri="{FF2B5EF4-FFF2-40B4-BE49-F238E27FC236}">
                <a16:creationId xmlns:a16="http://schemas.microsoft.com/office/drawing/2014/main" id="{7588F0FF-4613-C76E-E357-A65A31841EF9}"/>
              </a:ext>
            </a:extLst>
          </p:cNvPr>
          <p:cNvSpPr>
            <a:spLocks noGrp="1"/>
          </p:cNvSpPr>
          <p:nvPr/>
        </p:nvSpPr>
        <p:spPr>
          <a:xfrm>
            <a:off x="765990" y="4176980"/>
            <a:ext cx="1800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75" b="0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2000" dirty="0" err="1">
                <a:solidFill>
                  <a:srgbClr val="00206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TC"/>
              </a:rPr>
              <a:t>競品玩法</a:t>
            </a:r>
            <a:endParaRPr sz="2000" dirty="0">
              <a:solidFill>
                <a:srgbClr val="002060"/>
              </a:solidFill>
              <a:latin typeface="Noto Sans TC" panose="020B0200000000000000" pitchFamily="34" charset="-120"/>
              <a:ea typeface="Noto Sans TC" panose="020B0200000000000000" pitchFamily="34" charset="-120"/>
              <a:cs typeface="Noto Sans TC"/>
            </a:endParaRPr>
          </a:p>
        </p:txBody>
      </p: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51B665DF-90A2-ABE6-E96F-BBBC29FD42F9}"/>
              </a:ext>
            </a:extLst>
          </p:cNvPr>
          <p:cNvCxnSpPr>
            <a:cxnSpLocks/>
          </p:cNvCxnSpPr>
          <p:nvPr/>
        </p:nvCxnSpPr>
        <p:spPr>
          <a:xfrm flipH="1" flipV="1">
            <a:off x="1665990" y="4615130"/>
            <a:ext cx="1247" cy="785544"/>
          </a:xfrm>
          <a:prstGeom prst="line">
            <a:avLst/>
          </a:prstGeom>
          <a:ln>
            <a:solidFill>
              <a:srgbClr val="D7E5E8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0" name="圖片 89">
            <a:extLst>
              <a:ext uri="{FF2B5EF4-FFF2-40B4-BE49-F238E27FC236}">
                <a16:creationId xmlns:a16="http://schemas.microsoft.com/office/drawing/2014/main" id="{951C42A9-99ED-652F-A149-CA71F151BC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4400000" flipV="1">
            <a:off x="4278881" y="4434396"/>
            <a:ext cx="908882" cy="908880"/>
          </a:xfrm>
          <a:prstGeom prst="rect">
            <a:avLst/>
          </a:prstGeom>
        </p:spPr>
      </p:pic>
      <p:sp>
        <p:nvSpPr>
          <p:cNvPr id="91" name="矩形 90">
            <a:extLst>
              <a:ext uri="{FF2B5EF4-FFF2-40B4-BE49-F238E27FC236}">
                <a16:creationId xmlns:a16="http://schemas.microsoft.com/office/drawing/2014/main" id="{8467ED9F-A8FE-C1F4-DA42-096FB5B90D66}"/>
              </a:ext>
            </a:extLst>
          </p:cNvPr>
          <p:cNvSpPr>
            <a:spLocks noGrp="1"/>
          </p:cNvSpPr>
          <p:nvPr/>
        </p:nvSpPr>
        <p:spPr>
          <a:xfrm>
            <a:off x="3832075" y="3165926"/>
            <a:ext cx="1800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75" b="0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en-US" sz="2000" dirty="0">
                <a:solidFill>
                  <a:srgbClr val="00206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TC"/>
              </a:rPr>
              <a:t>多人核心循環</a:t>
            </a:r>
            <a:endParaRPr sz="2000" dirty="0">
              <a:solidFill>
                <a:srgbClr val="002060"/>
              </a:solidFill>
              <a:latin typeface="Noto Sans TC" panose="020B0200000000000000" pitchFamily="34" charset="-120"/>
              <a:ea typeface="Noto Sans TC" panose="020B0200000000000000" pitchFamily="34" charset="-120"/>
              <a:cs typeface="Noto Sans TC"/>
            </a:endParaRPr>
          </a:p>
        </p:txBody>
      </p:sp>
      <p:cxnSp>
        <p:nvCxnSpPr>
          <p:cNvPr id="92" name="直線接點 91">
            <a:extLst>
              <a:ext uri="{FF2B5EF4-FFF2-40B4-BE49-F238E27FC236}">
                <a16:creationId xmlns:a16="http://schemas.microsoft.com/office/drawing/2014/main" id="{1F34BBBF-82D1-809B-E317-6C612D2EE75C}"/>
              </a:ext>
            </a:extLst>
          </p:cNvPr>
          <p:cNvCxnSpPr>
            <a:cxnSpLocks/>
          </p:cNvCxnSpPr>
          <p:nvPr/>
        </p:nvCxnSpPr>
        <p:spPr>
          <a:xfrm flipH="1" flipV="1">
            <a:off x="4732075" y="3604076"/>
            <a:ext cx="1247" cy="785544"/>
          </a:xfrm>
          <a:prstGeom prst="line">
            <a:avLst/>
          </a:prstGeom>
          <a:ln>
            <a:solidFill>
              <a:srgbClr val="D7E5E8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3" name="圖片 92">
            <a:extLst>
              <a:ext uri="{FF2B5EF4-FFF2-40B4-BE49-F238E27FC236}">
                <a16:creationId xmlns:a16="http://schemas.microsoft.com/office/drawing/2014/main" id="{B9F8A6C4-92EB-1E05-6DDA-9C4CB6A3BC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300000" flipH="1" flipV="1">
            <a:off x="7336506" y="3656388"/>
            <a:ext cx="908880" cy="908880"/>
          </a:xfrm>
          <a:prstGeom prst="rect">
            <a:avLst/>
          </a:prstGeom>
        </p:spPr>
      </p:pic>
      <p:sp>
        <p:nvSpPr>
          <p:cNvPr id="94" name="矩形 93">
            <a:extLst>
              <a:ext uri="{FF2B5EF4-FFF2-40B4-BE49-F238E27FC236}">
                <a16:creationId xmlns:a16="http://schemas.microsoft.com/office/drawing/2014/main" id="{6EA42347-1E8C-4B7D-CFBC-BFCD901CB1C9}"/>
              </a:ext>
            </a:extLst>
          </p:cNvPr>
          <p:cNvSpPr>
            <a:spLocks noGrp="1"/>
          </p:cNvSpPr>
          <p:nvPr/>
        </p:nvSpPr>
        <p:spPr>
          <a:xfrm>
            <a:off x="6889699" y="2387917"/>
            <a:ext cx="1800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75" b="0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en-US" sz="2000" dirty="0">
                <a:solidFill>
                  <a:srgbClr val="00206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TC"/>
              </a:rPr>
              <a:t>三大玩法擴充</a:t>
            </a:r>
            <a:endParaRPr sz="2000" dirty="0">
              <a:solidFill>
                <a:srgbClr val="002060"/>
              </a:solidFill>
              <a:latin typeface="Noto Sans TC" panose="020B0200000000000000" pitchFamily="34" charset="-120"/>
              <a:ea typeface="Noto Sans TC" panose="020B0200000000000000" pitchFamily="34" charset="-120"/>
              <a:cs typeface="Noto Sans TC"/>
            </a:endParaRPr>
          </a:p>
        </p:txBody>
      </p:sp>
      <p:cxnSp>
        <p:nvCxnSpPr>
          <p:cNvPr id="95" name="直線接點 94">
            <a:extLst>
              <a:ext uri="{FF2B5EF4-FFF2-40B4-BE49-F238E27FC236}">
                <a16:creationId xmlns:a16="http://schemas.microsoft.com/office/drawing/2014/main" id="{EB3513F1-466E-1537-6099-FA5643B15729}"/>
              </a:ext>
            </a:extLst>
          </p:cNvPr>
          <p:cNvCxnSpPr>
            <a:cxnSpLocks/>
          </p:cNvCxnSpPr>
          <p:nvPr/>
        </p:nvCxnSpPr>
        <p:spPr>
          <a:xfrm flipH="1" flipV="1">
            <a:off x="7789699" y="2826067"/>
            <a:ext cx="1247" cy="785544"/>
          </a:xfrm>
          <a:prstGeom prst="line">
            <a:avLst/>
          </a:prstGeom>
          <a:ln>
            <a:solidFill>
              <a:srgbClr val="D7E5E8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6" name="圖片 95">
            <a:extLst>
              <a:ext uri="{FF2B5EF4-FFF2-40B4-BE49-F238E27FC236}">
                <a16:creationId xmlns:a16="http://schemas.microsoft.com/office/drawing/2014/main" id="{1036FD40-70D7-CD4C-6F68-D6705DD021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4400000" flipH="1" flipV="1">
            <a:off x="10114907" y="2316221"/>
            <a:ext cx="908880" cy="908880"/>
          </a:xfrm>
          <a:prstGeom prst="rect">
            <a:avLst/>
          </a:prstGeom>
        </p:spPr>
      </p:pic>
      <p:sp>
        <p:nvSpPr>
          <p:cNvPr id="97" name="矩形 96">
            <a:extLst>
              <a:ext uri="{FF2B5EF4-FFF2-40B4-BE49-F238E27FC236}">
                <a16:creationId xmlns:a16="http://schemas.microsoft.com/office/drawing/2014/main" id="{F095E14E-DB8F-64E4-4F27-FF5412B15547}"/>
              </a:ext>
            </a:extLst>
          </p:cNvPr>
          <p:cNvSpPr>
            <a:spLocks noGrp="1"/>
          </p:cNvSpPr>
          <p:nvPr/>
        </p:nvSpPr>
        <p:spPr>
          <a:xfrm>
            <a:off x="9668100" y="1047750"/>
            <a:ext cx="1800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75" b="0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en-US" sz="2000" dirty="0">
                <a:solidFill>
                  <a:srgbClr val="00206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TC"/>
              </a:rPr>
              <a:t>整合樂趣</a:t>
            </a:r>
            <a:endParaRPr sz="2000" dirty="0">
              <a:solidFill>
                <a:srgbClr val="002060"/>
              </a:solidFill>
              <a:latin typeface="Noto Sans TC" panose="020B0200000000000000" pitchFamily="34" charset="-120"/>
              <a:ea typeface="Noto Sans TC" panose="020B0200000000000000" pitchFamily="34" charset="-120"/>
              <a:cs typeface="Noto Sans TC"/>
            </a:endParaRPr>
          </a:p>
        </p:txBody>
      </p:sp>
      <p:cxnSp>
        <p:nvCxnSpPr>
          <p:cNvPr id="98" name="直線接點 97">
            <a:extLst>
              <a:ext uri="{FF2B5EF4-FFF2-40B4-BE49-F238E27FC236}">
                <a16:creationId xmlns:a16="http://schemas.microsoft.com/office/drawing/2014/main" id="{C14BD9E6-24C7-1BB9-20C2-5FA0634C22D2}"/>
              </a:ext>
            </a:extLst>
          </p:cNvPr>
          <p:cNvCxnSpPr>
            <a:cxnSpLocks/>
          </p:cNvCxnSpPr>
          <p:nvPr/>
        </p:nvCxnSpPr>
        <p:spPr>
          <a:xfrm flipH="1" flipV="1">
            <a:off x="10568100" y="1485900"/>
            <a:ext cx="1247" cy="785544"/>
          </a:xfrm>
          <a:prstGeom prst="line">
            <a:avLst/>
          </a:prstGeom>
          <a:ln>
            <a:solidFill>
              <a:srgbClr val="D7E5E8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4843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4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2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2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4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6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2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8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4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200"/>
                            </p:stCondLst>
                            <p:childTnLst>
                              <p:par>
                                <p:cTn id="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2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4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91" grpId="0"/>
      <p:bldP spid="94" grpId="0"/>
      <p:bldP spid="9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7D1F64F5-1C15-42C6-BD26-514C0709FEDF}"/>
              </a:ext>
            </a:extLst>
          </p:cNvPr>
          <p:cNvSpPr>
            <a:spLocks noGrp="1"/>
          </p:cNvSpPr>
          <p:nvPr/>
        </p:nvSpPr>
        <p:spPr>
          <a:xfrm>
            <a:off x="723900" y="495300"/>
            <a:ext cx="8382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>
              <a:defRPr sz="255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en-US" sz="2800" b="1" dirty="0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競品玩法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B058CFAD-593D-413A-B9AA-CD7F942E1E4E}"/>
              </a:ext>
            </a:extLst>
          </p:cNvPr>
          <p:cNvSpPr>
            <a:spLocks noGrp="1"/>
          </p:cNvSpPr>
          <p:nvPr/>
        </p:nvSpPr>
        <p:spPr>
          <a:xfrm>
            <a:off x="723900" y="1133475"/>
            <a:ext cx="628650" cy="57150"/>
          </a:xfrm>
          <a:prstGeom prst="roundRect">
            <a:avLst>
              <a:gd name="adj" fmla="val 50000"/>
            </a:avLst>
          </a:prstGeom>
          <a:solidFill>
            <a:srgbClr val="F8C449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D590C77-C259-4B88-B53A-270BB9989EB5}"/>
              </a:ext>
            </a:extLst>
          </p:cNvPr>
          <p:cNvSpPr>
            <a:spLocks noGrp="1"/>
          </p:cNvSpPr>
          <p:nvPr/>
        </p:nvSpPr>
        <p:spPr>
          <a:xfrm>
            <a:off x="895350" y="3086100"/>
            <a:ext cx="3429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defRPr>
            </a:pPr>
            <a:endParaRPr sz="1050" b="1" dirty="0">
              <a:solidFill>
                <a:srgbClr val="2F9BD3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C1AC955B-0E76-4D0F-B6FC-EC263A3D2FF2}"/>
              </a:ext>
            </a:extLst>
          </p:cNvPr>
          <p:cNvSpPr>
            <a:spLocks noGrp="1"/>
          </p:cNvSpPr>
          <p:nvPr/>
        </p:nvSpPr>
        <p:spPr>
          <a:xfrm>
            <a:off x="723900" y="5657850"/>
            <a:ext cx="10706100" cy="457200"/>
          </a:xfrm>
          <a:prstGeom prst="roundRect">
            <a:avLst>
              <a:gd name="adj" fmla="val 33333"/>
            </a:avLst>
          </a:prstGeom>
          <a:solidFill>
            <a:srgbClr val="FFF4D6"/>
          </a:solidFill>
          <a:ln w="0">
            <a:noFill/>
          </a:ln>
        </p:spPr>
        <p:txBody>
          <a:bodyPr anchor="ctr"/>
          <a:lstStyle/>
          <a:p>
            <a:pPr algn="ctr">
              <a:defRPr sz="157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en-US" sz="1400" b="1" dirty="0">
                <a:latin typeface="Noto Sans TC"/>
                <a:ea typeface="Noto Sans TC"/>
                <a:cs typeface="Noto Sans TC"/>
              </a:rPr>
              <a:t>單人反應挑戰  →  多人派對玩法</a:t>
            </a:r>
          </a:p>
        </p:txBody>
      </p:sp>
      <p:sp>
        <p:nvSpPr>
          <p:cNvPr id="26" name="直線接點 25">
            <a:extLst>
              <a:ext uri="{FF2B5EF4-FFF2-40B4-BE49-F238E27FC236}">
                <a16:creationId xmlns:a16="http://schemas.microsoft.com/office/drawing/2014/main" id="{91B63968-3AB4-44F6-80E5-1DEB0451FC2F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10744200" cy="0"/>
          </a:xfrm>
          <a:prstGeom prst="line">
            <a:avLst/>
          </a:prstGeom>
          <a:noFill/>
          <a:ln w="9525">
            <a:solidFill>
              <a:srgbClr val="D7E5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EB5CEF1-C26E-4F24-97E1-F4F662C4C0FA}"/>
              </a:ext>
            </a:extLst>
          </p:cNvPr>
          <p:cNvSpPr>
            <a:spLocks noGrp="1"/>
          </p:cNvSpPr>
          <p:nvPr/>
        </p:nvSpPr>
        <p:spPr>
          <a:xfrm>
            <a:off x="723900" y="6467475"/>
            <a:ext cx="4762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>
              <a:def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lang="en-US" altLang="zh-TW" sz="825" dirty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Traffic Bird</a:t>
            </a:r>
            <a:r>
              <a:rPr lang="zh-TW" altLang="en-US" sz="825" dirty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｜多人派對玩法提案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B45DBEE-8A83-46E9-94C3-C99A6211AF97}"/>
              </a:ext>
            </a:extLst>
          </p:cNvPr>
          <p:cNvSpPr>
            <a:spLocks noGrp="1"/>
          </p:cNvSpPr>
          <p:nvPr/>
        </p:nvSpPr>
        <p:spPr>
          <a:xfrm>
            <a:off x="10953750" y="6467475"/>
            <a:ext cx="5143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pic>
        <p:nvPicPr>
          <p:cNvPr id="30" name="crossy-road-0010-0028">
            <a:hlinkClick r:id="" action="ppaction://media"/>
            <a:extLst>
              <a:ext uri="{FF2B5EF4-FFF2-40B4-BE49-F238E27FC236}">
                <a16:creationId xmlns:a16="http://schemas.microsoft.com/office/drawing/2014/main" id="{4D626161-96C0-E5C2-AF6F-AD890BD7CD06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600" end="4244.0333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62000" y="2113780"/>
            <a:ext cx="6953250" cy="3280274"/>
          </a:xfrm>
          <a:prstGeom prst="roundRect">
            <a:avLst>
              <a:gd name="adj" fmla="val 5439"/>
            </a:avLst>
          </a:prstGeom>
          <a:ln>
            <a:solidFill>
              <a:srgbClr val="D7E5E8"/>
            </a:solidFill>
          </a:ln>
          <a:effectLst>
            <a:innerShdw blurRad="114300" dist="50800">
              <a:srgbClr val="000000">
                <a:alpha val="0"/>
              </a:srgbClr>
            </a:innerShdw>
          </a:effectLst>
        </p:spPr>
      </p:pic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45270C4B-FC28-4037-953D-16B8A9CE3B3D}"/>
              </a:ext>
            </a:extLst>
          </p:cNvPr>
          <p:cNvSpPr>
            <a:spLocks noGrp="1"/>
          </p:cNvSpPr>
          <p:nvPr/>
        </p:nvSpPr>
        <p:spPr>
          <a:xfrm>
            <a:off x="762000" y="1580379"/>
            <a:ext cx="6953250" cy="514350"/>
          </a:xfrm>
          <a:prstGeom prst="roundRect">
            <a:avLst>
              <a:gd name="adj" fmla="val 29630"/>
            </a:avLst>
          </a:prstGeom>
          <a:solidFill>
            <a:srgbClr val="2F9BD3"/>
          </a:solidFill>
          <a:ln w="0">
            <a:solidFill>
              <a:srgbClr val="D7E5E8"/>
            </a:solidFill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lang="en-US" altLang="zh-TW" sz="1600" b="1" dirty="0" err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Crossy</a:t>
            </a:r>
            <a:r>
              <a:rPr lang="en-US" altLang="zh-TW" sz="1600" b="1" dirty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 Road</a:t>
            </a: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1019C502-EAD1-889C-7B15-7F9E49D0AB9F}"/>
              </a:ext>
            </a:extLst>
          </p:cNvPr>
          <p:cNvGrpSpPr/>
          <p:nvPr/>
        </p:nvGrpSpPr>
        <p:grpSpPr>
          <a:xfrm>
            <a:off x="8191500" y="1570382"/>
            <a:ext cx="3238500" cy="1053911"/>
            <a:chOff x="723900" y="1570382"/>
            <a:chExt cx="3238500" cy="1053911"/>
          </a:xfrm>
        </p:grpSpPr>
        <p:sp>
          <p:nvSpPr>
            <p:cNvPr id="3" name="矩形: 圓角 2">
              <a:extLst>
                <a:ext uri="{FF2B5EF4-FFF2-40B4-BE49-F238E27FC236}">
                  <a16:creationId xmlns:a16="http://schemas.microsoft.com/office/drawing/2014/main" id="{A57E89F8-4956-D810-11AC-42E654CEBAC8}"/>
                </a:ext>
              </a:extLst>
            </p:cNvPr>
            <p:cNvSpPr/>
            <p:nvPr/>
          </p:nvSpPr>
          <p:spPr>
            <a:xfrm>
              <a:off x="723900" y="1570382"/>
              <a:ext cx="3238500" cy="1053911"/>
            </a:xfrm>
            <a:prstGeom prst="roundRect">
              <a:avLst/>
            </a:prstGeom>
            <a:ln w="12700">
              <a:solidFill>
                <a:srgbClr val="D7E5E8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8439081E-A442-7354-645E-195B9467CEF9}"/>
                </a:ext>
              </a:extLst>
            </p:cNvPr>
            <p:cNvSpPr txBox="1"/>
            <p:nvPr/>
          </p:nvSpPr>
          <p:spPr>
            <a:xfrm>
              <a:off x="895349" y="2002296"/>
              <a:ext cx="2880000" cy="3077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TW" altLang="en-US" sz="1400" dirty="0">
                  <a:solidFill>
                    <a:srgbClr val="65778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上下左右移動角色</a:t>
              </a:r>
            </a:p>
          </p:txBody>
        </p:sp>
        <p:sp>
          <p:nvSpPr>
            <p:cNvPr id="4" name="文字方塊 3">
              <a:extLst>
                <a:ext uri="{FF2B5EF4-FFF2-40B4-BE49-F238E27FC236}">
                  <a16:creationId xmlns:a16="http://schemas.microsoft.com/office/drawing/2014/main" id="{6A1C7E91-E16C-F9DB-7BAA-ED7ACEB0A838}"/>
                </a:ext>
              </a:extLst>
            </p:cNvPr>
            <p:cNvSpPr txBox="1"/>
            <p:nvPr/>
          </p:nvSpPr>
          <p:spPr>
            <a:xfrm>
              <a:off x="895350" y="1635872"/>
              <a:ext cx="646331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zh-TW" altLang="en-US" b="1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操作</a:t>
              </a:r>
            </a:p>
          </p:txBody>
        </p:sp>
      </p:grpSp>
      <p:grpSp>
        <p:nvGrpSpPr>
          <p:cNvPr id="6" name="群組 5">
            <a:extLst>
              <a:ext uri="{FF2B5EF4-FFF2-40B4-BE49-F238E27FC236}">
                <a16:creationId xmlns:a16="http://schemas.microsoft.com/office/drawing/2014/main" id="{0069E4CD-2E30-AC41-56F0-CB3F73D71C22}"/>
              </a:ext>
            </a:extLst>
          </p:cNvPr>
          <p:cNvGrpSpPr/>
          <p:nvPr/>
        </p:nvGrpSpPr>
        <p:grpSpPr>
          <a:xfrm>
            <a:off x="8191500" y="2948284"/>
            <a:ext cx="3238500" cy="1053911"/>
            <a:chOff x="723900" y="1570382"/>
            <a:chExt cx="3238500" cy="1053911"/>
          </a:xfrm>
        </p:grpSpPr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C27E42E0-0F38-292A-E284-05946F67EBFB}"/>
                </a:ext>
              </a:extLst>
            </p:cNvPr>
            <p:cNvSpPr/>
            <p:nvPr/>
          </p:nvSpPr>
          <p:spPr>
            <a:xfrm>
              <a:off x="723900" y="1570382"/>
              <a:ext cx="3238500" cy="1053911"/>
            </a:xfrm>
            <a:prstGeom prst="roundRect">
              <a:avLst/>
            </a:prstGeom>
            <a:ln w="12700">
              <a:solidFill>
                <a:srgbClr val="D7E5E8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835D4E01-A8D9-4BA5-9AF7-53078575BDF0}"/>
                </a:ext>
              </a:extLst>
            </p:cNvPr>
            <p:cNvSpPr txBox="1"/>
            <p:nvPr/>
          </p:nvSpPr>
          <p:spPr>
            <a:xfrm>
              <a:off x="895350" y="1999000"/>
              <a:ext cx="2880000" cy="54000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TW" altLang="en-US" sz="1400" dirty="0">
                  <a:solidFill>
                    <a:srgbClr val="65778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閃避車輛、利用漂流木通過水面，盡可能走得更遠</a:t>
              </a:r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E3A05774-FA15-BCEA-09AE-BA2E27BE5A21}"/>
                </a:ext>
              </a:extLst>
            </p:cNvPr>
            <p:cNvSpPr txBox="1"/>
            <p:nvPr/>
          </p:nvSpPr>
          <p:spPr>
            <a:xfrm>
              <a:off x="895350" y="1635872"/>
              <a:ext cx="646331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zh-TW" altLang="en-US" b="1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目標</a:t>
              </a:r>
            </a:p>
          </p:txBody>
        </p:sp>
      </p:grp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6FD85FAE-3F8D-0CD3-C44B-25C54498826C}"/>
              </a:ext>
            </a:extLst>
          </p:cNvPr>
          <p:cNvGrpSpPr/>
          <p:nvPr/>
        </p:nvGrpSpPr>
        <p:grpSpPr>
          <a:xfrm>
            <a:off x="8191500" y="4326187"/>
            <a:ext cx="3238500" cy="1053911"/>
            <a:chOff x="723900" y="1570382"/>
            <a:chExt cx="3238500" cy="1053911"/>
          </a:xfrm>
        </p:grpSpPr>
        <p:sp>
          <p:nvSpPr>
            <p:cNvPr id="19" name="矩形: 圓角 18">
              <a:extLst>
                <a:ext uri="{FF2B5EF4-FFF2-40B4-BE49-F238E27FC236}">
                  <a16:creationId xmlns:a16="http://schemas.microsoft.com/office/drawing/2014/main" id="{ED706517-86C8-A681-CE86-413CAA5A579F}"/>
                </a:ext>
              </a:extLst>
            </p:cNvPr>
            <p:cNvSpPr/>
            <p:nvPr/>
          </p:nvSpPr>
          <p:spPr>
            <a:xfrm>
              <a:off x="723900" y="1570382"/>
              <a:ext cx="3238500" cy="1053911"/>
            </a:xfrm>
            <a:prstGeom prst="roundRect">
              <a:avLst/>
            </a:prstGeom>
            <a:ln w="12700">
              <a:solidFill>
                <a:srgbClr val="D7E5E8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5B35DF31-5489-E025-841C-E40974D97ADA}"/>
                </a:ext>
              </a:extLst>
            </p:cNvPr>
            <p:cNvSpPr txBox="1"/>
            <p:nvPr/>
          </p:nvSpPr>
          <p:spPr>
            <a:xfrm>
              <a:off x="986262" y="2105301"/>
              <a:ext cx="2698175" cy="30777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zh-TW" altLang="en-US" sz="1400" b="1" dirty="0">
                  <a:solidFill>
                    <a:srgbClr val="2F9BD3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簡單操作Ｘ路況判斷Ｘ閃避反應</a:t>
              </a: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9BE009C9-43A8-29C1-3FB5-ACCA32843878}"/>
                </a:ext>
              </a:extLst>
            </p:cNvPr>
            <p:cNvSpPr txBox="1"/>
            <p:nvPr/>
          </p:nvSpPr>
          <p:spPr>
            <a:xfrm>
              <a:off x="895350" y="1651261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樂趣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7256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00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33" fill="hold" display="0">
                  <p:stCondLst>
                    <p:cond delay="indefinite"/>
                  </p:stCondLst>
                </p:cTn>
                <p:tgtEl>
                  <p:spTgt spid="30"/>
                </p:tgtEl>
              </p:cMediaNode>
            </p:video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8" dur="1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AC9118-A893-2C99-C791-0ED4F3DC4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5B91B4AF-A175-9E34-0293-8B39FEC65BCD}"/>
              </a:ext>
            </a:extLst>
          </p:cNvPr>
          <p:cNvSpPr>
            <a:spLocks noGrp="1"/>
          </p:cNvSpPr>
          <p:nvPr/>
        </p:nvSpPr>
        <p:spPr>
          <a:xfrm>
            <a:off x="742950" y="5657850"/>
            <a:ext cx="10706100" cy="457200"/>
          </a:xfrm>
          <a:prstGeom prst="roundRect">
            <a:avLst>
              <a:gd name="adj" fmla="val 33333"/>
            </a:avLst>
          </a:prstGeom>
          <a:solidFill>
            <a:srgbClr val="FFF4D6"/>
          </a:solidFill>
          <a:ln w="0">
            <a:noFill/>
          </a:ln>
        </p:spPr>
        <p:txBody>
          <a:bodyPr anchor="ctr"/>
          <a:lstStyle/>
          <a:p>
            <a:pPr algn="ctr">
              <a:defRPr sz="157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en-US" sz="1400" b="1" dirty="0">
                <a:latin typeface="Noto Sans TC"/>
                <a:ea typeface="Noto Sans TC"/>
                <a:cs typeface="Noto Sans TC"/>
              </a:rPr>
              <a:t>搶路、推擠、追趕，讓每位玩家持續參與競爭</a:t>
            </a: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0E25C3D9-4AA0-5C4D-3AF0-B3E882D1F504}"/>
              </a:ext>
            </a:extLst>
          </p:cNvPr>
          <p:cNvGrpSpPr/>
          <p:nvPr/>
        </p:nvGrpSpPr>
        <p:grpSpPr>
          <a:xfrm>
            <a:off x="719893" y="1521825"/>
            <a:ext cx="2159412" cy="1765039"/>
            <a:chOff x="723900" y="1570382"/>
            <a:chExt cx="3238500" cy="1053911"/>
          </a:xfrm>
        </p:grpSpPr>
        <p:sp>
          <p:nvSpPr>
            <p:cNvPr id="5" name="矩形: 圓角 4">
              <a:extLst>
                <a:ext uri="{FF2B5EF4-FFF2-40B4-BE49-F238E27FC236}">
                  <a16:creationId xmlns:a16="http://schemas.microsoft.com/office/drawing/2014/main" id="{B8250B3D-B5F5-A47E-126B-A1CA3B54E675}"/>
                </a:ext>
              </a:extLst>
            </p:cNvPr>
            <p:cNvSpPr/>
            <p:nvPr/>
          </p:nvSpPr>
          <p:spPr>
            <a:xfrm>
              <a:off x="723900" y="1570382"/>
              <a:ext cx="3238500" cy="1053911"/>
            </a:xfrm>
            <a:prstGeom prst="roundRect">
              <a:avLst/>
            </a:prstGeom>
            <a:ln w="12700">
              <a:solidFill>
                <a:srgbClr val="D7E5E8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FB0A5417-2862-C7B8-6332-FE875A244CDE}"/>
                </a:ext>
              </a:extLst>
            </p:cNvPr>
            <p:cNvSpPr txBox="1"/>
            <p:nvPr/>
          </p:nvSpPr>
          <p:spPr>
            <a:xfrm>
              <a:off x="895349" y="2002296"/>
              <a:ext cx="2879999" cy="18377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TW" altLang="en-US" sz="1400" dirty="0">
                  <a:solidFill>
                    <a:srgbClr val="65778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同時向前推進</a:t>
              </a: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BF4FBB11-3372-8E1F-31E3-272B51A0D55B}"/>
                </a:ext>
              </a:extLst>
            </p:cNvPr>
            <p:cNvSpPr txBox="1"/>
            <p:nvPr/>
          </p:nvSpPr>
          <p:spPr>
            <a:xfrm>
              <a:off x="895350" y="1710273"/>
              <a:ext cx="2877651" cy="21495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TW" b="1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5</a:t>
              </a:r>
              <a:r>
                <a:rPr lang="zh-TW" altLang="en-US" b="1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人同場</a:t>
              </a:r>
            </a:p>
          </p:txBody>
        </p:sp>
      </p:grpSp>
      <p:sp>
        <p:nvSpPr>
          <p:cNvPr id="97" name="橢圓 96">
            <a:extLst>
              <a:ext uri="{FF2B5EF4-FFF2-40B4-BE49-F238E27FC236}">
                <a16:creationId xmlns:a16="http://schemas.microsoft.com/office/drawing/2014/main" id="{0C91182F-5BCF-B4D2-965D-D06888962EA0}"/>
              </a:ext>
            </a:extLst>
          </p:cNvPr>
          <p:cNvSpPr/>
          <p:nvPr/>
        </p:nvSpPr>
        <p:spPr>
          <a:xfrm>
            <a:off x="6717952" y="1325002"/>
            <a:ext cx="3740798" cy="3740798"/>
          </a:xfrm>
          <a:prstGeom prst="ellipse">
            <a:avLst/>
          </a:prstGeom>
          <a:noFill/>
          <a:ln>
            <a:solidFill>
              <a:srgbClr val="D7E5E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37603528-9DCF-437B-64D9-AF49173E624B}"/>
              </a:ext>
            </a:extLst>
          </p:cNvPr>
          <p:cNvSpPr>
            <a:spLocks noGrp="1"/>
          </p:cNvSpPr>
          <p:nvPr/>
        </p:nvSpPr>
        <p:spPr>
          <a:xfrm>
            <a:off x="723900" y="495300"/>
            <a:ext cx="8382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>
              <a:defRPr sz="255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en-US" sz="2800" b="1" dirty="0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多人核心循環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4A86EF5D-B349-2384-B0A7-635F1C39F51B}"/>
              </a:ext>
            </a:extLst>
          </p:cNvPr>
          <p:cNvSpPr>
            <a:spLocks noGrp="1"/>
          </p:cNvSpPr>
          <p:nvPr/>
        </p:nvSpPr>
        <p:spPr>
          <a:xfrm>
            <a:off x="723900" y="1133475"/>
            <a:ext cx="628650" cy="57150"/>
          </a:xfrm>
          <a:prstGeom prst="roundRect">
            <a:avLst>
              <a:gd name="adj" fmla="val 50000"/>
            </a:avLst>
          </a:prstGeom>
          <a:solidFill>
            <a:srgbClr val="F8C449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直線接點 46">
            <a:extLst>
              <a:ext uri="{FF2B5EF4-FFF2-40B4-BE49-F238E27FC236}">
                <a16:creationId xmlns:a16="http://schemas.microsoft.com/office/drawing/2014/main" id="{EFE2F6E0-0AE5-2A87-9290-E3C92A18F963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10744200" cy="0"/>
          </a:xfrm>
          <a:prstGeom prst="line">
            <a:avLst/>
          </a:prstGeom>
          <a:noFill/>
          <a:ln w="9525">
            <a:solidFill>
              <a:srgbClr val="D7E5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DDB5CE3-EEC0-4EF4-006A-5AD2ED0355DD}"/>
              </a:ext>
            </a:extLst>
          </p:cNvPr>
          <p:cNvSpPr>
            <a:spLocks noGrp="1"/>
          </p:cNvSpPr>
          <p:nvPr/>
        </p:nvSpPr>
        <p:spPr>
          <a:xfrm>
            <a:off x="723900" y="6467475"/>
            <a:ext cx="4762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>
              <a:def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lang="en-US" altLang="zh-TW" sz="825" dirty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Traffic Bird</a:t>
            </a:r>
            <a:r>
              <a:rPr lang="zh-TW" altLang="en-US" sz="825" dirty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｜多人派對玩法提案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86733AF7-4A17-C8D2-D104-6B25783268D9}"/>
              </a:ext>
            </a:extLst>
          </p:cNvPr>
          <p:cNvSpPr>
            <a:spLocks noGrp="1"/>
          </p:cNvSpPr>
          <p:nvPr/>
        </p:nvSpPr>
        <p:spPr>
          <a:xfrm>
            <a:off x="10953750" y="6467475"/>
            <a:ext cx="5143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 dirty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grpSp>
        <p:nvGrpSpPr>
          <p:cNvPr id="42" name="群組 41">
            <a:extLst>
              <a:ext uri="{FF2B5EF4-FFF2-40B4-BE49-F238E27FC236}">
                <a16:creationId xmlns:a16="http://schemas.microsoft.com/office/drawing/2014/main" id="{7B085599-61C2-F4C2-4F1C-D6B2402A9C14}"/>
              </a:ext>
            </a:extLst>
          </p:cNvPr>
          <p:cNvGrpSpPr/>
          <p:nvPr/>
        </p:nvGrpSpPr>
        <p:grpSpPr>
          <a:xfrm>
            <a:off x="7981951" y="763154"/>
            <a:ext cx="1260000" cy="1260000"/>
            <a:chOff x="7981951" y="763154"/>
            <a:chExt cx="1260000" cy="1260000"/>
          </a:xfrm>
        </p:grpSpPr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DB95078E-3FF6-1800-8F2F-3BFF14C23459}"/>
                </a:ext>
              </a:extLst>
            </p:cNvPr>
            <p:cNvSpPr/>
            <p:nvPr/>
          </p:nvSpPr>
          <p:spPr>
            <a:xfrm>
              <a:off x="7981951" y="763154"/>
              <a:ext cx="1260000" cy="1260000"/>
            </a:xfrm>
            <a:prstGeom prst="ellipse">
              <a:avLst/>
            </a:prstGeom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altLang="zh-TW" dirty="0"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7131D4E7-B099-3164-CE7F-B69504908FB8}"/>
                </a:ext>
              </a:extLst>
            </p:cNvPr>
            <p:cNvSpPr/>
            <p:nvPr/>
          </p:nvSpPr>
          <p:spPr>
            <a:xfrm>
              <a:off x="8476951" y="777750"/>
              <a:ext cx="270000" cy="270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dirty="0">
                  <a:solidFill>
                    <a:schemeClr val="bg1"/>
                  </a:solidFill>
                </a:rPr>
                <a:t>1</a:t>
              </a:r>
              <a:endParaRPr lang="zh-TW" alt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C0C00238-158B-950B-6213-481F2DADB540}"/>
                </a:ext>
              </a:extLst>
            </p:cNvPr>
            <p:cNvSpPr txBox="1"/>
            <p:nvPr/>
          </p:nvSpPr>
          <p:spPr>
            <a:xfrm>
              <a:off x="8026835" y="1432544"/>
              <a:ext cx="1172116" cy="2616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zh-TW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TC" panose="020B0200000000000000" pitchFamily="34" charset="-120"/>
                  <a:ea typeface="Noto Sans TC" panose="020B0200000000000000" pitchFamily="34" charset="-120"/>
                </a:rPr>
                <a:t>路況／其他玩家</a:t>
              </a: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3A447867-F292-CCA8-76EC-FFC15E221C79}"/>
                </a:ext>
              </a:extLst>
            </p:cNvPr>
            <p:cNvSpPr txBox="1"/>
            <p:nvPr/>
          </p:nvSpPr>
          <p:spPr>
            <a:xfrm>
              <a:off x="8313083" y="1093990"/>
              <a:ext cx="595035" cy="338554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zh-TW" altLang="en-US" sz="1600" dirty="0">
                  <a:latin typeface="Noto Sans TC" panose="020B0200000000000000" pitchFamily="34" charset="-120"/>
                  <a:ea typeface="Noto Sans TC" panose="020B0200000000000000" pitchFamily="34" charset="-120"/>
                </a:rPr>
                <a:t>觀察</a:t>
              </a:r>
            </a:p>
          </p:txBody>
        </p:sp>
      </p:grp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CC807A90-BE3D-5AFC-DCDC-D6AEE534693C}"/>
              </a:ext>
            </a:extLst>
          </p:cNvPr>
          <p:cNvGrpSpPr/>
          <p:nvPr/>
        </p:nvGrpSpPr>
        <p:grpSpPr>
          <a:xfrm>
            <a:off x="9693750" y="2119809"/>
            <a:ext cx="1260000" cy="1260000"/>
            <a:chOff x="7981951" y="763154"/>
            <a:chExt cx="1260000" cy="1260000"/>
          </a:xfrm>
        </p:grpSpPr>
        <p:sp>
          <p:nvSpPr>
            <p:cNvPr id="44" name="橢圓 43">
              <a:extLst>
                <a:ext uri="{FF2B5EF4-FFF2-40B4-BE49-F238E27FC236}">
                  <a16:creationId xmlns:a16="http://schemas.microsoft.com/office/drawing/2014/main" id="{50B82BA8-A9FF-3EB8-2330-74E3C863AE05}"/>
                </a:ext>
              </a:extLst>
            </p:cNvPr>
            <p:cNvSpPr/>
            <p:nvPr/>
          </p:nvSpPr>
          <p:spPr>
            <a:xfrm>
              <a:off x="7981951" y="763154"/>
              <a:ext cx="1260000" cy="1260000"/>
            </a:xfrm>
            <a:prstGeom prst="ellipse">
              <a:avLst/>
            </a:prstGeom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altLang="zh-TW" dirty="0"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46" name="橢圓 45">
              <a:extLst>
                <a:ext uri="{FF2B5EF4-FFF2-40B4-BE49-F238E27FC236}">
                  <a16:creationId xmlns:a16="http://schemas.microsoft.com/office/drawing/2014/main" id="{35AEF8F0-AC4E-3F80-0681-EFF261EEBE9F}"/>
                </a:ext>
              </a:extLst>
            </p:cNvPr>
            <p:cNvSpPr/>
            <p:nvPr/>
          </p:nvSpPr>
          <p:spPr>
            <a:xfrm>
              <a:off x="8476951" y="777750"/>
              <a:ext cx="270000" cy="2700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dirty="0">
                  <a:solidFill>
                    <a:schemeClr val="bg1"/>
                  </a:solidFill>
                </a:rPr>
                <a:t>2</a:t>
              </a:r>
              <a:endParaRPr lang="zh-TW" alt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51" name="文字方塊 50">
              <a:extLst>
                <a:ext uri="{FF2B5EF4-FFF2-40B4-BE49-F238E27FC236}">
                  <a16:creationId xmlns:a16="http://schemas.microsoft.com/office/drawing/2014/main" id="{0D474DA4-5C53-4ED2-EED8-D0A15B96A5F6}"/>
                </a:ext>
              </a:extLst>
            </p:cNvPr>
            <p:cNvSpPr txBox="1"/>
            <p:nvPr/>
          </p:nvSpPr>
          <p:spPr>
            <a:xfrm>
              <a:off x="8026842" y="1432544"/>
              <a:ext cx="1172116" cy="2616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zh-TW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TC" panose="020B0200000000000000" pitchFamily="34" charset="-120"/>
                  <a:ea typeface="Noto Sans TC" panose="020B0200000000000000" pitchFamily="34" charset="-120"/>
                </a:rPr>
                <a:t>路線／通過時機</a:t>
              </a:r>
            </a:p>
          </p:txBody>
        </p:sp>
        <p:sp>
          <p:nvSpPr>
            <p:cNvPr id="52" name="文字方塊 51">
              <a:extLst>
                <a:ext uri="{FF2B5EF4-FFF2-40B4-BE49-F238E27FC236}">
                  <a16:creationId xmlns:a16="http://schemas.microsoft.com/office/drawing/2014/main" id="{0566E1CE-B061-EF1A-7C24-05E0583D7E11}"/>
                </a:ext>
              </a:extLst>
            </p:cNvPr>
            <p:cNvSpPr txBox="1"/>
            <p:nvPr/>
          </p:nvSpPr>
          <p:spPr>
            <a:xfrm>
              <a:off x="8313085" y="1093990"/>
              <a:ext cx="595035" cy="338554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zh-TW" altLang="en-US" sz="1600" dirty="0">
                  <a:latin typeface="Noto Sans TC" panose="020B0200000000000000" pitchFamily="34" charset="-120"/>
                  <a:ea typeface="Noto Sans TC" panose="020B0200000000000000" pitchFamily="34" charset="-120"/>
                </a:rPr>
                <a:t>決策</a:t>
              </a:r>
            </a:p>
          </p:txBody>
        </p:sp>
      </p:grpSp>
      <p:grpSp>
        <p:nvGrpSpPr>
          <p:cNvPr id="70" name="群組 69">
            <a:extLst>
              <a:ext uri="{FF2B5EF4-FFF2-40B4-BE49-F238E27FC236}">
                <a16:creationId xmlns:a16="http://schemas.microsoft.com/office/drawing/2014/main" id="{BF32A773-FC12-25AE-9C3C-434F490342C7}"/>
              </a:ext>
            </a:extLst>
          </p:cNvPr>
          <p:cNvGrpSpPr/>
          <p:nvPr/>
        </p:nvGrpSpPr>
        <p:grpSpPr>
          <a:xfrm>
            <a:off x="9030739" y="3991976"/>
            <a:ext cx="1260000" cy="1260000"/>
            <a:chOff x="7981951" y="763154"/>
            <a:chExt cx="1260000" cy="1260000"/>
          </a:xfrm>
        </p:grpSpPr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46696377-4658-B5F9-2B4B-A2CF5457E579}"/>
                </a:ext>
              </a:extLst>
            </p:cNvPr>
            <p:cNvSpPr/>
            <p:nvPr/>
          </p:nvSpPr>
          <p:spPr>
            <a:xfrm>
              <a:off x="7981951" y="763154"/>
              <a:ext cx="1260000" cy="1260000"/>
            </a:xfrm>
            <a:prstGeom prst="ellipse">
              <a:avLst/>
            </a:prstGeom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altLang="zh-TW" dirty="0"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72" name="橢圓 71">
              <a:extLst>
                <a:ext uri="{FF2B5EF4-FFF2-40B4-BE49-F238E27FC236}">
                  <a16:creationId xmlns:a16="http://schemas.microsoft.com/office/drawing/2014/main" id="{7DAC5F12-0DCC-B717-FC02-A4A1FCD1D3D9}"/>
                </a:ext>
              </a:extLst>
            </p:cNvPr>
            <p:cNvSpPr/>
            <p:nvPr/>
          </p:nvSpPr>
          <p:spPr>
            <a:xfrm>
              <a:off x="8476951" y="777750"/>
              <a:ext cx="270000" cy="270000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dirty="0">
                  <a:solidFill>
                    <a:schemeClr val="bg1"/>
                  </a:solidFill>
                </a:rPr>
                <a:t>3</a:t>
              </a:r>
              <a:endParaRPr lang="zh-TW" alt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73" name="文字方塊 72">
              <a:extLst>
                <a:ext uri="{FF2B5EF4-FFF2-40B4-BE49-F238E27FC236}">
                  <a16:creationId xmlns:a16="http://schemas.microsoft.com/office/drawing/2014/main" id="{B7D8E75A-CBC9-9F9F-D831-53476E3D2E8C}"/>
                </a:ext>
              </a:extLst>
            </p:cNvPr>
            <p:cNvSpPr txBox="1"/>
            <p:nvPr/>
          </p:nvSpPr>
          <p:spPr>
            <a:xfrm>
              <a:off x="8026839" y="1432544"/>
              <a:ext cx="1172116" cy="2616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zh-TW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TC" panose="020B0200000000000000" pitchFamily="34" charset="-120"/>
                  <a:ea typeface="Noto Sans TC" panose="020B0200000000000000" pitchFamily="34" charset="-120"/>
                </a:rPr>
                <a:t>閃避／互相推擠</a:t>
              </a:r>
            </a:p>
          </p:txBody>
        </p:sp>
        <p:sp>
          <p:nvSpPr>
            <p:cNvPr id="74" name="文字方塊 73">
              <a:extLst>
                <a:ext uri="{FF2B5EF4-FFF2-40B4-BE49-F238E27FC236}">
                  <a16:creationId xmlns:a16="http://schemas.microsoft.com/office/drawing/2014/main" id="{73DBA472-BEAF-37B3-626A-E1120D82F6DF}"/>
                </a:ext>
              </a:extLst>
            </p:cNvPr>
            <p:cNvSpPr txBox="1"/>
            <p:nvPr/>
          </p:nvSpPr>
          <p:spPr>
            <a:xfrm>
              <a:off x="8313084" y="1093990"/>
              <a:ext cx="595035" cy="338554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zh-TW" altLang="en-US" sz="1600" dirty="0">
                  <a:latin typeface="Noto Sans TC" panose="020B0200000000000000" pitchFamily="34" charset="-120"/>
                  <a:ea typeface="Noto Sans TC" panose="020B0200000000000000" pitchFamily="34" charset="-120"/>
                </a:rPr>
                <a:t>移動</a:t>
              </a:r>
            </a:p>
          </p:txBody>
        </p:sp>
      </p:grpSp>
      <p:grpSp>
        <p:nvGrpSpPr>
          <p:cNvPr id="75" name="群組 74">
            <a:extLst>
              <a:ext uri="{FF2B5EF4-FFF2-40B4-BE49-F238E27FC236}">
                <a16:creationId xmlns:a16="http://schemas.microsoft.com/office/drawing/2014/main" id="{53198561-7DCA-4E5E-E76D-C759F51DB07F}"/>
              </a:ext>
            </a:extLst>
          </p:cNvPr>
          <p:cNvGrpSpPr/>
          <p:nvPr/>
        </p:nvGrpSpPr>
        <p:grpSpPr>
          <a:xfrm>
            <a:off x="6893239" y="3991976"/>
            <a:ext cx="1260000" cy="1260000"/>
            <a:chOff x="7972715" y="753918"/>
            <a:chExt cx="1260000" cy="1260000"/>
          </a:xfrm>
        </p:grpSpPr>
        <p:sp>
          <p:nvSpPr>
            <p:cNvPr id="76" name="橢圓 75">
              <a:extLst>
                <a:ext uri="{FF2B5EF4-FFF2-40B4-BE49-F238E27FC236}">
                  <a16:creationId xmlns:a16="http://schemas.microsoft.com/office/drawing/2014/main" id="{65741811-0712-B180-F71B-AF83382F060E}"/>
                </a:ext>
              </a:extLst>
            </p:cNvPr>
            <p:cNvSpPr/>
            <p:nvPr/>
          </p:nvSpPr>
          <p:spPr>
            <a:xfrm>
              <a:off x="7972715" y="753918"/>
              <a:ext cx="1260000" cy="1260000"/>
            </a:xfrm>
            <a:prstGeom prst="ellipse">
              <a:avLst/>
            </a:prstGeom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altLang="zh-TW" dirty="0"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77" name="橢圓 76">
              <a:extLst>
                <a:ext uri="{FF2B5EF4-FFF2-40B4-BE49-F238E27FC236}">
                  <a16:creationId xmlns:a16="http://schemas.microsoft.com/office/drawing/2014/main" id="{47787A06-F17D-D0FE-AA52-6E44989DB990}"/>
                </a:ext>
              </a:extLst>
            </p:cNvPr>
            <p:cNvSpPr/>
            <p:nvPr/>
          </p:nvSpPr>
          <p:spPr>
            <a:xfrm>
              <a:off x="8476951" y="777750"/>
              <a:ext cx="270000" cy="2700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dirty="0">
                  <a:solidFill>
                    <a:schemeClr val="bg1"/>
                  </a:solidFill>
                </a:rPr>
                <a:t>4</a:t>
              </a:r>
              <a:endParaRPr lang="zh-TW" alt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779C47A0-141D-8189-7291-0DDAF4A531B4}"/>
                </a:ext>
              </a:extLst>
            </p:cNvPr>
            <p:cNvSpPr txBox="1"/>
            <p:nvPr/>
          </p:nvSpPr>
          <p:spPr>
            <a:xfrm>
              <a:off x="8026844" y="1432544"/>
              <a:ext cx="1172116" cy="2616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zh-TW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TC" panose="020B0200000000000000" pitchFamily="34" charset="-120"/>
                  <a:ea typeface="Noto Sans TC" panose="020B0200000000000000" pitchFamily="34" charset="-120"/>
                </a:rPr>
                <a:t>推進／回安全點</a:t>
              </a:r>
            </a:p>
          </p:txBody>
        </p:sp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8CF88041-127F-23D0-8527-CF600B7E2102}"/>
                </a:ext>
              </a:extLst>
            </p:cNvPr>
            <p:cNvSpPr txBox="1"/>
            <p:nvPr/>
          </p:nvSpPr>
          <p:spPr>
            <a:xfrm>
              <a:off x="8313083" y="1093990"/>
              <a:ext cx="595035" cy="338554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zh-TW" altLang="en-US" sz="1600" dirty="0">
                  <a:latin typeface="Noto Sans TC" panose="020B0200000000000000" pitchFamily="34" charset="-120"/>
                  <a:ea typeface="Noto Sans TC" panose="020B0200000000000000" pitchFamily="34" charset="-120"/>
                </a:rPr>
                <a:t>結果</a:t>
              </a:r>
            </a:p>
          </p:txBody>
        </p:sp>
      </p:grpSp>
      <p:grpSp>
        <p:nvGrpSpPr>
          <p:cNvPr id="80" name="群組 79">
            <a:extLst>
              <a:ext uri="{FF2B5EF4-FFF2-40B4-BE49-F238E27FC236}">
                <a16:creationId xmlns:a16="http://schemas.microsoft.com/office/drawing/2014/main" id="{5BB79F83-FB05-B037-D6EA-137A682CD473}"/>
              </a:ext>
            </a:extLst>
          </p:cNvPr>
          <p:cNvGrpSpPr/>
          <p:nvPr/>
        </p:nvGrpSpPr>
        <p:grpSpPr>
          <a:xfrm>
            <a:off x="6228149" y="2107680"/>
            <a:ext cx="1260000" cy="1260000"/>
            <a:chOff x="7981951" y="763154"/>
            <a:chExt cx="1260000" cy="1260000"/>
          </a:xfrm>
        </p:grpSpPr>
        <p:sp>
          <p:nvSpPr>
            <p:cNvPr id="81" name="橢圓 80">
              <a:extLst>
                <a:ext uri="{FF2B5EF4-FFF2-40B4-BE49-F238E27FC236}">
                  <a16:creationId xmlns:a16="http://schemas.microsoft.com/office/drawing/2014/main" id="{D8AE1D49-6053-CAF2-734E-8986B87CACC5}"/>
                </a:ext>
              </a:extLst>
            </p:cNvPr>
            <p:cNvSpPr/>
            <p:nvPr/>
          </p:nvSpPr>
          <p:spPr>
            <a:xfrm>
              <a:off x="7981951" y="763154"/>
              <a:ext cx="1260000" cy="1260000"/>
            </a:xfrm>
            <a:prstGeom prst="ellipse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altLang="zh-TW" dirty="0"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82" name="橢圓 81">
              <a:extLst>
                <a:ext uri="{FF2B5EF4-FFF2-40B4-BE49-F238E27FC236}">
                  <a16:creationId xmlns:a16="http://schemas.microsoft.com/office/drawing/2014/main" id="{E4655D29-8FFA-53EB-BA40-38A6F5C13A90}"/>
                </a:ext>
              </a:extLst>
            </p:cNvPr>
            <p:cNvSpPr/>
            <p:nvPr/>
          </p:nvSpPr>
          <p:spPr>
            <a:xfrm>
              <a:off x="8476951" y="777750"/>
              <a:ext cx="270000" cy="2700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dirty="0">
                  <a:solidFill>
                    <a:schemeClr val="bg1"/>
                  </a:solidFill>
                </a:rPr>
                <a:t>5</a:t>
              </a:r>
              <a:endParaRPr lang="zh-TW" alt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83" name="文字方塊 82">
              <a:extLst>
                <a:ext uri="{FF2B5EF4-FFF2-40B4-BE49-F238E27FC236}">
                  <a16:creationId xmlns:a16="http://schemas.microsoft.com/office/drawing/2014/main" id="{6C46535C-CE7A-83B4-2035-95B063D8E6E5}"/>
                </a:ext>
              </a:extLst>
            </p:cNvPr>
            <p:cNvSpPr txBox="1"/>
            <p:nvPr/>
          </p:nvSpPr>
          <p:spPr>
            <a:xfrm>
              <a:off x="8026840" y="1432544"/>
              <a:ext cx="1172116" cy="2616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zh-TW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TC" panose="020B0200000000000000" pitchFamily="34" charset="-120"/>
                  <a:ea typeface="Noto Sans TC" panose="020B0200000000000000" pitchFamily="34" charset="-120"/>
                </a:rPr>
                <a:t>排名／玩家站位</a:t>
              </a:r>
            </a:p>
          </p:txBody>
        </p:sp>
        <p:sp>
          <p:nvSpPr>
            <p:cNvPr id="84" name="文字方塊 83">
              <a:extLst>
                <a:ext uri="{FF2B5EF4-FFF2-40B4-BE49-F238E27FC236}">
                  <a16:creationId xmlns:a16="http://schemas.microsoft.com/office/drawing/2014/main" id="{6179C0CA-4418-B9AC-E9B6-75AF5DD67349}"/>
                </a:ext>
              </a:extLst>
            </p:cNvPr>
            <p:cNvSpPr txBox="1"/>
            <p:nvPr/>
          </p:nvSpPr>
          <p:spPr>
            <a:xfrm>
              <a:off x="8313084" y="1093990"/>
              <a:ext cx="595035" cy="338554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zh-TW" altLang="en-US" sz="1600" dirty="0">
                  <a:latin typeface="Noto Sans TC" panose="020B0200000000000000" pitchFamily="34" charset="-120"/>
                  <a:ea typeface="Noto Sans TC" panose="020B0200000000000000" pitchFamily="34" charset="-120"/>
                </a:rPr>
                <a:t>更新</a:t>
              </a:r>
            </a:p>
          </p:txBody>
        </p:sp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123C7E37-A626-477B-7997-8C63812A40D0}"/>
              </a:ext>
            </a:extLst>
          </p:cNvPr>
          <p:cNvGrpSpPr/>
          <p:nvPr/>
        </p:nvGrpSpPr>
        <p:grpSpPr>
          <a:xfrm>
            <a:off x="3165548" y="1521825"/>
            <a:ext cx="2159412" cy="1765039"/>
            <a:chOff x="723900" y="1570382"/>
            <a:chExt cx="3238500" cy="1053911"/>
          </a:xfrm>
        </p:grpSpPr>
        <p:sp>
          <p:nvSpPr>
            <p:cNvPr id="12" name="矩形: 圓角 11">
              <a:extLst>
                <a:ext uri="{FF2B5EF4-FFF2-40B4-BE49-F238E27FC236}">
                  <a16:creationId xmlns:a16="http://schemas.microsoft.com/office/drawing/2014/main" id="{DB342472-8F2A-922F-1D99-2DFF61ADC2B4}"/>
                </a:ext>
              </a:extLst>
            </p:cNvPr>
            <p:cNvSpPr/>
            <p:nvPr/>
          </p:nvSpPr>
          <p:spPr>
            <a:xfrm>
              <a:off x="723900" y="1570382"/>
              <a:ext cx="3238500" cy="1053911"/>
            </a:xfrm>
            <a:prstGeom prst="roundRect">
              <a:avLst/>
            </a:prstGeom>
            <a:ln w="12700">
              <a:solidFill>
                <a:srgbClr val="D7E5E8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EB965259-256A-AA2C-61C9-BFE7E3E52C72}"/>
                </a:ext>
              </a:extLst>
            </p:cNvPr>
            <p:cNvSpPr txBox="1"/>
            <p:nvPr/>
          </p:nvSpPr>
          <p:spPr>
            <a:xfrm>
              <a:off x="895349" y="2002296"/>
              <a:ext cx="2879999" cy="31241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TW" altLang="en-US" sz="1400" dirty="0">
                  <a:solidFill>
                    <a:srgbClr val="65778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爭奪安全路線與通過時機</a:t>
              </a:r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BDABF0EA-1DAF-C89D-8042-D017CB38BD96}"/>
                </a:ext>
              </a:extLst>
            </p:cNvPr>
            <p:cNvSpPr txBox="1"/>
            <p:nvPr/>
          </p:nvSpPr>
          <p:spPr>
            <a:xfrm>
              <a:off x="895350" y="1707487"/>
              <a:ext cx="2877651" cy="22052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zh-TW" altLang="en-US" b="1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相互推擠</a:t>
              </a:r>
            </a:p>
          </p:txBody>
        </p:sp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040D8E77-07BA-61D6-0D9C-8066116DF41B}"/>
              </a:ext>
            </a:extLst>
          </p:cNvPr>
          <p:cNvGrpSpPr/>
          <p:nvPr/>
        </p:nvGrpSpPr>
        <p:grpSpPr>
          <a:xfrm>
            <a:off x="719893" y="3620261"/>
            <a:ext cx="2159412" cy="1765039"/>
            <a:chOff x="723900" y="1570382"/>
            <a:chExt cx="3238500" cy="1053911"/>
          </a:xfrm>
        </p:grpSpPr>
        <p:sp>
          <p:nvSpPr>
            <p:cNvPr id="16" name="矩形: 圓角 15">
              <a:extLst>
                <a:ext uri="{FF2B5EF4-FFF2-40B4-BE49-F238E27FC236}">
                  <a16:creationId xmlns:a16="http://schemas.microsoft.com/office/drawing/2014/main" id="{A14D487B-F403-C958-ECF4-30E23FE3DF38}"/>
                </a:ext>
              </a:extLst>
            </p:cNvPr>
            <p:cNvSpPr/>
            <p:nvPr/>
          </p:nvSpPr>
          <p:spPr>
            <a:xfrm>
              <a:off x="723900" y="1570382"/>
              <a:ext cx="3238500" cy="1053911"/>
            </a:xfrm>
            <a:prstGeom prst="roundRect">
              <a:avLst/>
            </a:prstGeom>
            <a:ln w="12700">
              <a:solidFill>
                <a:srgbClr val="D7E5E8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95705A5A-68C0-5209-7787-67751974D244}"/>
                </a:ext>
              </a:extLst>
            </p:cNvPr>
            <p:cNvSpPr txBox="1"/>
            <p:nvPr/>
          </p:nvSpPr>
          <p:spPr>
            <a:xfrm>
              <a:off x="895349" y="2002296"/>
              <a:ext cx="2879999" cy="18377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TW" altLang="en-US" sz="1400" dirty="0">
                  <a:solidFill>
                    <a:srgbClr val="65778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失誤後立即返回戰場</a:t>
              </a: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35A1C956-6AE4-E25F-0DFB-3B1B0DA96C9A}"/>
                </a:ext>
              </a:extLst>
            </p:cNvPr>
            <p:cNvSpPr txBox="1"/>
            <p:nvPr/>
          </p:nvSpPr>
          <p:spPr>
            <a:xfrm>
              <a:off x="895350" y="1707487"/>
              <a:ext cx="2877651" cy="22052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zh-TW" altLang="en-US" b="1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安全點重生</a:t>
              </a:r>
            </a:p>
          </p:txBody>
        </p: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0C31B20D-0626-8B5E-81A9-0E00C3F16DEA}"/>
              </a:ext>
            </a:extLst>
          </p:cNvPr>
          <p:cNvGrpSpPr/>
          <p:nvPr/>
        </p:nvGrpSpPr>
        <p:grpSpPr>
          <a:xfrm>
            <a:off x="3165548" y="3609569"/>
            <a:ext cx="2159412" cy="1765039"/>
            <a:chOff x="723900" y="1570382"/>
            <a:chExt cx="3238500" cy="1053911"/>
          </a:xfrm>
        </p:grpSpPr>
        <p:sp>
          <p:nvSpPr>
            <p:cNvPr id="22" name="矩形: 圓角 21">
              <a:extLst>
                <a:ext uri="{FF2B5EF4-FFF2-40B4-BE49-F238E27FC236}">
                  <a16:creationId xmlns:a16="http://schemas.microsoft.com/office/drawing/2014/main" id="{28DF8AA3-36ED-DAFE-D798-80350FACC5CC}"/>
                </a:ext>
              </a:extLst>
            </p:cNvPr>
            <p:cNvSpPr/>
            <p:nvPr/>
          </p:nvSpPr>
          <p:spPr>
            <a:xfrm>
              <a:off x="723900" y="1570382"/>
              <a:ext cx="3238500" cy="1053911"/>
            </a:xfrm>
            <a:prstGeom prst="roundRect">
              <a:avLst/>
            </a:prstGeom>
            <a:ln w="12700">
              <a:solidFill>
                <a:srgbClr val="D7E5E8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26F6A3DC-C1C4-CEF3-13F5-7DB2AB7D0B1E}"/>
                </a:ext>
              </a:extLst>
            </p:cNvPr>
            <p:cNvSpPr txBox="1"/>
            <p:nvPr/>
          </p:nvSpPr>
          <p:spPr>
            <a:xfrm>
              <a:off x="895349" y="2002296"/>
              <a:ext cx="2879999" cy="18377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TW" altLang="en-US" sz="1400" dirty="0">
                  <a:solidFill>
                    <a:srgbClr val="65778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依最終前進距離結算</a:t>
              </a:r>
            </a:p>
          </p:txBody>
        </p: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84589C7A-3CAC-8782-7FCA-D54BD684DF46}"/>
                </a:ext>
              </a:extLst>
            </p:cNvPr>
            <p:cNvSpPr txBox="1"/>
            <p:nvPr/>
          </p:nvSpPr>
          <p:spPr>
            <a:xfrm>
              <a:off x="895350" y="1707487"/>
              <a:ext cx="2877651" cy="22052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TW" b="1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120 </a:t>
              </a:r>
              <a:r>
                <a:rPr lang="zh-TW" altLang="en-US" b="1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秒排名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62596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4" dur="3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9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1BA1D4-1AA4-B330-C5D8-CDF10311C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群組 36">
            <a:extLst>
              <a:ext uri="{FF2B5EF4-FFF2-40B4-BE49-F238E27FC236}">
                <a16:creationId xmlns:a16="http://schemas.microsoft.com/office/drawing/2014/main" id="{0BAAB8E0-EB27-F5A4-60C7-516AE045EB57}"/>
              </a:ext>
            </a:extLst>
          </p:cNvPr>
          <p:cNvGrpSpPr/>
          <p:nvPr/>
        </p:nvGrpSpPr>
        <p:grpSpPr>
          <a:xfrm>
            <a:off x="4305302" y="1693461"/>
            <a:ext cx="3314698" cy="3724259"/>
            <a:chOff x="4305300" y="1683176"/>
            <a:chExt cx="3314698" cy="3724259"/>
          </a:xfrm>
        </p:grpSpPr>
        <p:sp>
          <p:nvSpPr>
            <p:cNvPr id="18" name="矩形: 圓角 17">
              <a:extLst>
                <a:ext uri="{FF2B5EF4-FFF2-40B4-BE49-F238E27FC236}">
                  <a16:creationId xmlns:a16="http://schemas.microsoft.com/office/drawing/2014/main" id="{D0BCB551-3824-AEF8-0765-8690F150F65E}"/>
                </a:ext>
              </a:extLst>
            </p:cNvPr>
            <p:cNvSpPr/>
            <p:nvPr/>
          </p:nvSpPr>
          <p:spPr>
            <a:xfrm>
              <a:off x="4305300" y="1683176"/>
              <a:ext cx="3314698" cy="3724259"/>
            </a:xfrm>
            <a:prstGeom prst="roundRect">
              <a:avLst>
                <a:gd name="adj" fmla="val 5576"/>
              </a:avLst>
            </a:prstGeom>
            <a:ln w="12700">
              <a:solidFill>
                <a:srgbClr val="D7E5E8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CA410156-B70D-AA85-5B51-BEF81688217C}"/>
                </a:ext>
              </a:extLst>
            </p:cNvPr>
            <p:cNvSpPr txBox="1"/>
            <p:nvPr/>
          </p:nvSpPr>
          <p:spPr>
            <a:xfrm>
              <a:off x="5408652" y="1834331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b="1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體力策略</a:t>
              </a:r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0B46AB33-26ED-2F58-A03B-CA47D9268E00}"/>
                </a:ext>
              </a:extLst>
            </p:cNvPr>
            <p:cNvSpPr txBox="1"/>
            <p:nvPr/>
          </p:nvSpPr>
          <p:spPr>
            <a:xfrm>
              <a:off x="4946990" y="2212133"/>
              <a:ext cx="203132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1600" b="1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創造移動時機的取捨</a:t>
              </a:r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77F8688A-F2A8-1671-A005-92D1C3268AD6}"/>
                </a:ext>
              </a:extLst>
            </p:cNvPr>
            <p:cNvSpPr txBox="1"/>
            <p:nvPr/>
          </p:nvSpPr>
          <p:spPr>
            <a:xfrm>
              <a:off x="4522649" y="2603074"/>
              <a:ext cx="2880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b="1" dirty="0">
                  <a:solidFill>
                    <a:srgbClr val="65778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每次移動消耗體力，停留後恢復；玩家需選擇前進、等待</a:t>
              </a:r>
            </a:p>
          </p:txBody>
        </p:sp>
        <p:sp>
          <p:nvSpPr>
            <p:cNvPr id="29" name="對角線條紋 28">
              <a:extLst>
                <a:ext uri="{FF2B5EF4-FFF2-40B4-BE49-F238E27FC236}">
                  <a16:creationId xmlns:a16="http://schemas.microsoft.com/office/drawing/2014/main" id="{DF59522F-9853-DE07-7D5A-A06B9D54FBEB}"/>
                </a:ext>
              </a:extLst>
            </p:cNvPr>
            <p:cNvSpPr/>
            <p:nvPr/>
          </p:nvSpPr>
          <p:spPr>
            <a:xfrm>
              <a:off x="4305300" y="1685925"/>
              <a:ext cx="914400" cy="914400"/>
            </a:xfrm>
            <a:prstGeom prst="diagStrip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800" dirty="0">
                  <a:solidFill>
                    <a:schemeClr val="bg1"/>
                  </a:solidFill>
                </a:rPr>
                <a:t>1</a:t>
              </a:r>
              <a:endParaRPr lang="zh-TW" altLang="en-US" sz="2800" dirty="0">
                <a:solidFill>
                  <a:schemeClr val="bg1"/>
                </a:solidFill>
              </a:endParaRPr>
            </a:p>
          </p:txBody>
        </p:sp>
        <p:pic>
          <p:nvPicPr>
            <p:cNvPr id="66" name="圖片 65">
              <a:extLst>
                <a:ext uri="{FF2B5EF4-FFF2-40B4-BE49-F238E27FC236}">
                  <a16:creationId xmlns:a16="http://schemas.microsoft.com/office/drawing/2014/main" id="{C06287A4-7FB5-064A-D7FC-3BB220E25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44542" y="3238499"/>
              <a:ext cx="3036216" cy="2026674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</p:grpSp>
      <p:sp>
        <p:nvSpPr>
          <p:cNvPr id="27" name="矩形 26">
            <a:extLst>
              <a:ext uri="{FF2B5EF4-FFF2-40B4-BE49-F238E27FC236}">
                <a16:creationId xmlns:a16="http://schemas.microsoft.com/office/drawing/2014/main" id="{7DD02500-475A-9BAA-0B37-FF93146349AC}"/>
              </a:ext>
            </a:extLst>
          </p:cNvPr>
          <p:cNvSpPr>
            <a:spLocks noGrp="1"/>
          </p:cNvSpPr>
          <p:nvPr/>
        </p:nvSpPr>
        <p:spPr>
          <a:xfrm>
            <a:off x="723900" y="495300"/>
            <a:ext cx="8382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>
              <a:defRPr sz="255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en-US" sz="2800" b="1" dirty="0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三大玩法擴充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A6F5B2DA-EF5F-1F21-2DC1-546B44EAB4FC}"/>
              </a:ext>
            </a:extLst>
          </p:cNvPr>
          <p:cNvSpPr>
            <a:spLocks noGrp="1"/>
          </p:cNvSpPr>
          <p:nvPr/>
        </p:nvSpPr>
        <p:spPr>
          <a:xfrm>
            <a:off x="723900" y="1133475"/>
            <a:ext cx="628650" cy="57150"/>
          </a:xfrm>
          <a:prstGeom prst="roundRect">
            <a:avLst>
              <a:gd name="adj" fmla="val 50000"/>
            </a:avLst>
          </a:prstGeom>
          <a:solidFill>
            <a:srgbClr val="F8C449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直線接點 23">
            <a:extLst>
              <a:ext uri="{FF2B5EF4-FFF2-40B4-BE49-F238E27FC236}">
                <a16:creationId xmlns:a16="http://schemas.microsoft.com/office/drawing/2014/main" id="{6F2A1914-A205-8889-55B0-6BBAFC9D0425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10744200" cy="0"/>
          </a:xfrm>
          <a:prstGeom prst="line">
            <a:avLst/>
          </a:prstGeom>
          <a:noFill/>
          <a:ln w="9525">
            <a:solidFill>
              <a:srgbClr val="D7E5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193A49F-E1A9-E9DA-A346-88437CEEE39F}"/>
              </a:ext>
            </a:extLst>
          </p:cNvPr>
          <p:cNvSpPr>
            <a:spLocks noGrp="1"/>
          </p:cNvSpPr>
          <p:nvPr/>
        </p:nvSpPr>
        <p:spPr>
          <a:xfrm>
            <a:off x="723900" y="6467475"/>
            <a:ext cx="4762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>
              <a:def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lang="en-US" altLang="zh-TW" sz="825" dirty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Traffic Bird</a:t>
            </a:r>
            <a:r>
              <a:rPr lang="zh-TW" altLang="en-US" sz="825" dirty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｜多人派對玩法提案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C01B970-04B2-AB5F-4BE4-5B76CA9CA9DC}"/>
              </a:ext>
            </a:extLst>
          </p:cNvPr>
          <p:cNvSpPr>
            <a:spLocks noGrp="1"/>
          </p:cNvSpPr>
          <p:nvPr/>
        </p:nvSpPr>
        <p:spPr>
          <a:xfrm>
            <a:off x="10953750" y="6467475"/>
            <a:ext cx="5143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E935E4C4-02C1-0B76-9A0A-9CF9DF4E0E4E}"/>
              </a:ext>
            </a:extLst>
          </p:cNvPr>
          <p:cNvSpPr>
            <a:spLocks noGrp="1"/>
          </p:cNvSpPr>
          <p:nvPr/>
        </p:nvSpPr>
        <p:spPr>
          <a:xfrm>
            <a:off x="723900" y="5657850"/>
            <a:ext cx="10706100" cy="457200"/>
          </a:xfrm>
          <a:prstGeom prst="roundRect">
            <a:avLst>
              <a:gd name="adj" fmla="val 33333"/>
            </a:avLst>
          </a:prstGeom>
          <a:solidFill>
            <a:srgbClr val="FFF4D6"/>
          </a:solidFill>
          <a:ln w="0">
            <a:noFill/>
          </a:ln>
        </p:spPr>
        <p:txBody>
          <a:bodyPr anchor="ctr"/>
          <a:lstStyle/>
          <a:p>
            <a:pPr algn="ctr">
              <a:defRPr sz="157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en-US" sz="1400" b="1" dirty="0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體力製造決策 ＋ 動態場景製造變化 ＋ 道具製造玩家互動</a:t>
            </a:r>
          </a:p>
        </p:txBody>
      </p: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D8579B40-13F0-4DCC-4484-93D18CC6665E}"/>
              </a:ext>
            </a:extLst>
          </p:cNvPr>
          <p:cNvGrpSpPr/>
          <p:nvPr/>
        </p:nvGrpSpPr>
        <p:grpSpPr>
          <a:xfrm>
            <a:off x="4305300" y="1683176"/>
            <a:ext cx="3314700" cy="3724259"/>
            <a:chOff x="723900" y="1683176"/>
            <a:chExt cx="3314700" cy="3724259"/>
          </a:xfrm>
        </p:grpSpPr>
        <p:sp>
          <p:nvSpPr>
            <p:cNvPr id="5" name="矩形: 圓角 4">
              <a:extLst>
                <a:ext uri="{FF2B5EF4-FFF2-40B4-BE49-F238E27FC236}">
                  <a16:creationId xmlns:a16="http://schemas.microsoft.com/office/drawing/2014/main" id="{E13CD642-73BE-020D-A2FC-7A4FB13FEBE6}"/>
                </a:ext>
              </a:extLst>
            </p:cNvPr>
            <p:cNvSpPr/>
            <p:nvPr/>
          </p:nvSpPr>
          <p:spPr>
            <a:xfrm>
              <a:off x="723902" y="1683176"/>
              <a:ext cx="3314698" cy="3724259"/>
            </a:xfrm>
            <a:prstGeom prst="roundRect">
              <a:avLst>
                <a:gd name="adj" fmla="val 5576"/>
              </a:avLst>
            </a:prstGeom>
            <a:ln w="12700">
              <a:solidFill>
                <a:srgbClr val="D7E5E8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對角線條紋 5">
              <a:extLst>
                <a:ext uri="{FF2B5EF4-FFF2-40B4-BE49-F238E27FC236}">
                  <a16:creationId xmlns:a16="http://schemas.microsoft.com/office/drawing/2014/main" id="{A0D97BAB-D9EE-5812-5AE8-016B4221F4FF}"/>
                </a:ext>
              </a:extLst>
            </p:cNvPr>
            <p:cNvSpPr/>
            <p:nvPr/>
          </p:nvSpPr>
          <p:spPr>
            <a:xfrm>
              <a:off x="723900" y="1685925"/>
              <a:ext cx="914400" cy="914400"/>
            </a:xfrm>
            <a:prstGeom prst="diagStrip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800" dirty="0">
                  <a:solidFill>
                    <a:schemeClr val="bg1"/>
                  </a:solidFill>
                </a:rPr>
                <a:t>2</a:t>
              </a:r>
              <a:endParaRPr lang="zh-TW" alt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04647F83-5400-F3E0-B267-55D4114AB255}"/>
                </a:ext>
              </a:extLst>
            </p:cNvPr>
            <p:cNvSpPr txBox="1"/>
            <p:nvPr/>
          </p:nvSpPr>
          <p:spPr>
            <a:xfrm>
              <a:off x="1827253" y="1834331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b="1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動態場景</a:t>
              </a: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EB5EF110-2C52-0DF5-9FA0-4871A553F5AF}"/>
                </a:ext>
              </a:extLst>
            </p:cNvPr>
            <p:cNvSpPr txBox="1"/>
            <p:nvPr/>
          </p:nvSpPr>
          <p:spPr>
            <a:xfrm>
              <a:off x="1468181" y="2212133"/>
              <a:ext cx="182614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16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持續改變安全路線</a:t>
              </a:r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51ECC9E4-E690-98EE-31DD-4632476BA92E}"/>
                </a:ext>
              </a:extLst>
            </p:cNvPr>
            <p:cNvSpPr txBox="1"/>
            <p:nvPr/>
          </p:nvSpPr>
          <p:spPr>
            <a:xfrm>
              <a:off x="941251" y="2603074"/>
              <a:ext cx="2880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b="1" dirty="0">
                  <a:solidFill>
                    <a:srgbClr val="65778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坑洞限制路線；斷橋形成搶路；高速車輛提高局部風險</a:t>
              </a:r>
            </a:p>
          </p:txBody>
        </p:sp>
        <p:pic>
          <p:nvPicPr>
            <p:cNvPr id="62" name="圖片 61">
              <a:extLst>
                <a:ext uri="{FF2B5EF4-FFF2-40B4-BE49-F238E27FC236}">
                  <a16:creationId xmlns:a16="http://schemas.microsoft.com/office/drawing/2014/main" id="{EEB1AF17-2A8E-EAC8-AB62-9668683A34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3143" y="3270302"/>
              <a:ext cx="3036216" cy="2026674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</p:grpSp>
      <p:grpSp>
        <p:nvGrpSpPr>
          <p:cNvPr id="39" name="群組 38">
            <a:extLst>
              <a:ext uri="{FF2B5EF4-FFF2-40B4-BE49-F238E27FC236}">
                <a16:creationId xmlns:a16="http://schemas.microsoft.com/office/drawing/2014/main" id="{BE1DAFD2-CF78-07B1-CE5F-37FAB83D707C}"/>
              </a:ext>
            </a:extLst>
          </p:cNvPr>
          <p:cNvGrpSpPr/>
          <p:nvPr/>
        </p:nvGrpSpPr>
        <p:grpSpPr>
          <a:xfrm>
            <a:off x="4305300" y="1683175"/>
            <a:ext cx="3314698" cy="3724259"/>
            <a:chOff x="7886698" y="1683176"/>
            <a:chExt cx="3314698" cy="3724259"/>
          </a:xfrm>
        </p:grpSpPr>
        <p:sp>
          <p:nvSpPr>
            <p:cNvPr id="32" name="矩形: 圓角 31">
              <a:extLst>
                <a:ext uri="{FF2B5EF4-FFF2-40B4-BE49-F238E27FC236}">
                  <a16:creationId xmlns:a16="http://schemas.microsoft.com/office/drawing/2014/main" id="{D6643433-97CD-DE13-95D1-8711D9B21A55}"/>
                </a:ext>
              </a:extLst>
            </p:cNvPr>
            <p:cNvSpPr/>
            <p:nvPr/>
          </p:nvSpPr>
          <p:spPr>
            <a:xfrm>
              <a:off x="7886698" y="1683176"/>
              <a:ext cx="3314698" cy="3724259"/>
            </a:xfrm>
            <a:prstGeom prst="roundRect">
              <a:avLst>
                <a:gd name="adj" fmla="val 5576"/>
              </a:avLst>
            </a:prstGeom>
            <a:ln w="12700">
              <a:solidFill>
                <a:srgbClr val="D7E5E8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4BC938FE-D9B4-BE79-2AB5-9874C97A2383}"/>
                </a:ext>
              </a:extLst>
            </p:cNvPr>
            <p:cNvSpPr txBox="1"/>
            <p:nvPr/>
          </p:nvSpPr>
          <p:spPr>
            <a:xfrm>
              <a:off x="8990049" y="1834331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b="1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互動道具</a:t>
              </a:r>
            </a:p>
          </p:txBody>
        </p:sp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63A6CCAD-76F3-F763-30F0-C0FF7CEED688}"/>
                </a:ext>
              </a:extLst>
            </p:cNvPr>
            <p:cNvSpPr txBox="1"/>
            <p:nvPr/>
          </p:nvSpPr>
          <p:spPr>
            <a:xfrm>
              <a:off x="8528391" y="2212133"/>
              <a:ext cx="203132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1600" b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保護自己或影響戰局</a:t>
              </a:r>
            </a:p>
          </p:txBody>
        </p:sp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149AE49B-E9A2-5E65-AA6E-672B1C5D3470}"/>
                </a:ext>
              </a:extLst>
            </p:cNvPr>
            <p:cNvSpPr txBox="1"/>
            <p:nvPr/>
          </p:nvSpPr>
          <p:spPr>
            <a:xfrm>
              <a:off x="8104047" y="2603074"/>
              <a:ext cx="2880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b="1" dirty="0">
                  <a:solidFill>
                    <a:srgbClr val="65778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問號箱隨機提供道具，行程攻擊、保護和追趕的互動</a:t>
              </a:r>
            </a:p>
          </p:txBody>
        </p:sp>
        <p:sp>
          <p:nvSpPr>
            <p:cNvPr id="30" name="對角線條紋 29">
              <a:extLst>
                <a:ext uri="{FF2B5EF4-FFF2-40B4-BE49-F238E27FC236}">
                  <a16:creationId xmlns:a16="http://schemas.microsoft.com/office/drawing/2014/main" id="{E5978D11-D5E0-C661-2443-AD6EE1828770}"/>
                </a:ext>
              </a:extLst>
            </p:cNvPr>
            <p:cNvSpPr/>
            <p:nvPr/>
          </p:nvSpPr>
          <p:spPr>
            <a:xfrm>
              <a:off x="7886700" y="1685925"/>
              <a:ext cx="914400" cy="914400"/>
            </a:xfrm>
            <a:prstGeom prst="diagStrip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800" dirty="0">
                  <a:solidFill>
                    <a:schemeClr val="bg1"/>
                  </a:solidFill>
                </a:rPr>
                <a:t>3</a:t>
              </a:r>
              <a:endParaRPr lang="zh-TW" altLang="en-US" sz="2800" dirty="0">
                <a:solidFill>
                  <a:schemeClr val="bg1"/>
                </a:solidFill>
              </a:endParaRPr>
            </a:p>
          </p:txBody>
        </p:sp>
        <p:pic>
          <p:nvPicPr>
            <p:cNvPr id="64" name="圖片 63">
              <a:extLst>
                <a:ext uri="{FF2B5EF4-FFF2-40B4-BE49-F238E27FC236}">
                  <a16:creationId xmlns:a16="http://schemas.microsoft.com/office/drawing/2014/main" id="{CD869825-FFC3-C063-FBE8-4C0246A960B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25941" y="3270302"/>
              <a:ext cx="3036216" cy="2026674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82929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1.48148E-6 L -0.29245 1.48148E-6 " pathEditMode="relative" rAng="0" ptsTypes="AA">
                                      <p:cBhvr>
                                        <p:cTn id="27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622" y="0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1.85185E-6 L 0.30886 1.85185E-6 " pathEditMode="relative" rAng="0" ptsTypes="AA">
                                      <p:cBhvr>
                                        <p:cTn id="29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443" y="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747C61-6081-3262-025D-8AB2DB24D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DA808786-BE83-D6AC-08A8-F30B42202BFF}"/>
              </a:ext>
            </a:extLst>
          </p:cNvPr>
          <p:cNvSpPr>
            <a:spLocks noGrp="1"/>
          </p:cNvSpPr>
          <p:nvPr/>
        </p:nvSpPr>
        <p:spPr>
          <a:xfrm>
            <a:off x="723900" y="495300"/>
            <a:ext cx="8382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55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2800" b="1" dirty="0" err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整合後的派對樂趣</a:t>
            </a:r>
            <a:endParaRPr sz="2800" b="1" dirty="0">
              <a:solidFill>
                <a:srgbClr val="17344D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27EC43F0-D726-892C-C71B-9E75E15FFFD8}"/>
              </a:ext>
            </a:extLst>
          </p:cNvPr>
          <p:cNvSpPr>
            <a:spLocks noGrp="1"/>
          </p:cNvSpPr>
          <p:nvPr/>
        </p:nvSpPr>
        <p:spPr>
          <a:xfrm>
            <a:off x="723900" y="1133475"/>
            <a:ext cx="628650" cy="57150"/>
          </a:xfrm>
          <a:prstGeom prst="roundRect">
            <a:avLst>
              <a:gd name="adj" fmla="val 50000"/>
            </a:avLst>
          </a:prstGeom>
          <a:solidFill>
            <a:srgbClr val="F8C449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直線接點 39">
            <a:extLst>
              <a:ext uri="{FF2B5EF4-FFF2-40B4-BE49-F238E27FC236}">
                <a16:creationId xmlns:a16="http://schemas.microsoft.com/office/drawing/2014/main" id="{A8C4C648-5416-D990-BD0C-38680273FA4D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10744200" cy="0"/>
          </a:xfrm>
          <a:prstGeom prst="line">
            <a:avLst/>
          </a:prstGeom>
          <a:noFill/>
          <a:ln w="9525">
            <a:solidFill>
              <a:srgbClr val="D7E5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E20266C-B788-E690-82F1-FE2D8B4C245E}"/>
              </a:ext>
            </a:extLst>
          </p:cNvPr>
          <p:cNvSpPr>
            <a:spLocks noGrp="1"/>
          </p:cNvSpPr>
          <p:nvPr/>
        </p:nvSpPr>
        <p:spPr>
          <a:xfrm>
            <a:off x="723900" y="6467475"/>
            <a:ext cx="4762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>
              <a:def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lang="en-US" altLang="zh-TW" sz="825" dirty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Traffic Bird</a:t>
            </a:r>
            <a:r>
              <a:rPr lang="zh-TW" altLang="en-US" sz="825" dirty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｜多人派對玩法提案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38B66B5-FE6F-1E54-DF77-B51D73DAD88F}"/>
              </a:ext>
            </a:extLst>
          </p:cNvPr>
          <p:cNvSpPr>
            <a:spLocks noGrp="1"/>
          </p:cNvSpPr>
          <p:nvPr/>
        </p:nvSpPr>
        <p:spPr>
          <a:xfrm>
            <a:off x="10953750" y="6467475"/>
            <a:ext cx="5143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6</a:t>
            </a:r>
          </a:p>
        </p:txBody>
      </p:sp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09D22C42-C803-F490-AE12-4CE4C3A45B4F}"/>
              </a:ext>
            </a:extLst>
          </p:cNvPr>
          <p:cNvSpPr>
            <a:spLocks noGrp="1"/>
          </p:cNvSpPr>
          <p:nvPr/>
        </p:nvSpPr>
        <p:spPr>
          <a:xfrm>
            <a:off x="723900" y="5657850"/>
            <a:ext cx="10706100" cy="457200"/>
          </a:xfrm>
          <a:prstGeom prst="roundRect">
            <a:avLst>
              <a:gd name="adj" fmla="val 33333"/>
            </a:avLst>
          </a:prstGeom>
          <a:solidFill>
            <a:srgbClr val="FFF4D6"/>
          </a:solidFill>
          <a:ln w="0">
            <a:noFill/>
          </a:ln>
        </p:spPr>
        <p:txBody>
          <a:bodyPr anchor="ctr"/>
          <a:lstStyle/>
          <a:p>
            <a:pPr algn="ctr">
              <a:defRPr sz="1575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en-US" sz="1400" b="1" dirty="0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體力、動態場景與道具，共同放大多人互動。</a:t>
            </a:r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B3181EB1-918F-F227-495D-B5C2F73DD1CE}"/>
              </a:ext>
            </a:extLst>
          </p:cNvPr>
          <p:cNvGrpSpPr/>
          <p:nvPr/>
        </p:nvGrpSpPr>
        <p:grpSpPr>
          <a:xfrm>
            <a:off x="1990725" y="1905000"/>
            <a:ext cx="2228849" cy="3143250"/>
            <a:chOff x="723901" y="1905000"/>
            <a:chExt cx="2228849" cy="3143250"/>
          </a:xfrm>
        </p:grpSpPr>
        <p:sp>
          <p:nvSpPr>
            <p:cNvPr id="3" name="矩形: 圓角 2">
              <a:extLst>
                <a:ext uri="{FF2B5EF4-FFF2-40B4-BE49-F238E27FC236}">
                  <a16:creationId xmlns:a16="http://schemas.microsoft.com/office/drawing/2014/main" id="{366436CC-6581-78FC-02AD-92A074C72CC1}"/>
                </a:ext>
              </a:extLst>
            </p:cNvPr>
            <p:cNvSpPr/>
            <p:nvPr/>
          </p:nvSpPr>
          <p:spPr>
            <a:xfrm>
              <a:off x="723901" y="1905000"/>
              <a:ext cx="2228849" cy="3143250"/>
            </a:xfrm>
            <a:prstGeom prst="roundRect">
              <a:avLst>
                <a:gd name="adj" fmla="val 5670"/>
              </a:avLst>
            </a:prstGeom>
            <a:solidFill>
              <a:schemeClr val="bg1"/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b="1" dirty="0">
                  <a:solidFill>
                    <a:srgbClr val="65778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自己閃車、往前走</a:t>
              </a:r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9CB4D8B8-0C6A-09D7-51EC-04EF7F15F9A0}"/>
                </a:ext>
              </a:extLst>
            </p:cNvPr>
            <p:cNvSpPr txBox="1"/>
            <p:nvPr/>
          </p:nvSpPr>
          <p:spPr>
            <a:xfrm>
              <a:off x="1309975" y="2090142"/>
              <a:ext cx="1056700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DLaM Display" panose="020F0502020204030204" pitchFamily="2" charset="0"/>
                </a:rPr>
                <a:t>BEFORE</a:t>
              </a:r>
              <a:endParaRPr lang="zh-TW" alt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DLaM Display" panose="020F0502020204030204" pitchFamily="2" charset="0"/>
              </a:endParaRPr>
            </a:p>
          </p:txBody>
        </p: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82D9EC4E-4BE9-92B4-F121-9515BF6DD075}"/>
              </a:ext>
            </a:extLst>
          </p:cNvPr>
          <p:cNvGrpSpPr/>
          <p:nvPr/>
        </p:nvGrpSpPr>
        <p:grpSpPr>
          <a:xfrm>
            <a:off x="7991475" y="1905000"/>
            <a:ext cx="2228849" cy="3143250"/>
            <a:chOff x="9239250" y="1905000"/>
            <a:chExt cx="2228849" cy="3143250"/>
          </a:xfrm>
        </p:grpSpPr>
        <p:sp>
          <p:nvSpPr>
            <p:cNvPr id="9" name="矩形: 圓角 8">
              <a:extLst>
                <a:ext uri="{FF2B5EF4-FFF2-40B4-BE49-F238E27FC236}">
                  <a16:creationId xmlns:a16="http://schemas.microsoft.com/office/drawing/2014/main" id="{8D8B5156-7D66-1464-D051-0E84F5A1F005}"/>
                </a:ext>
              </a:extLst>
            </p:cNvPr>
            <p:cNvSpPr/>
            <p:nvPr/>
          </p:nvSpPr>
          <p:spPr>
            <a:xfrm>
              <a:off x="9239250" y="1905000"/>
              <a:ext cx="2228849" cy="3143250"/>
            </a:xfrm>
            <a:prstGeom prst="roundRect">
              <a:avLst>
                <a:gd name="adj" fmla="val 5670"/>
              </a:avLst>
            </a:prstGeom>
            <a:solidFill>
              <a:schemeClr val="bg1"/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b="1" dirty="0">
                  <a:solidFill>
                    <a:srgbClr val="65778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一起搶路</a:t>
              </a:r>
              <a:endParaRPr lang="en-US" altLang="zh-TW" sz="1600" b="1" dirty="0">
                <a:solidFill>
                  <a:srgbClr val="65778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endParaRPr lang="en-US" altLang="zh-TW" sz="1600" b="1" dirty="0">
                <a:solidFill>
                  <a:srgbClr val="65778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1600" b="1" dirty="0">
                  <a:solidFill>
                    <a:srgbClr val="65778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互相影響</a:t>
              </a:r>
              <a:endParaRPr lang="en-US" altLang="zh-TW" sz="1600" b="1" dirty="0">
                <a:solidFill>
                  <a:srgbClr val="65778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endParaRPr lang="en-US" altLang="zh-TW" sz="1600" b="1" dirty="0">
                <a:solidFill>
                  <a:srgbClr val="65778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1600" b="1" dirty="0">
                  <a:solidFill>
                    <a:srgbClr val="65778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持續追逐</a:t>
              </a:r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63D9A638-9CB0-1FEC-6D27-5321DE49C708}"/>
                </a:ext>
              </a:extLst>
            </p:cNvPr>
            <p:cNvSpPr txBox="1"/>
            <p:nvPr/>
          </p:nvSpPr>
          <p:spPr>
            <a:xfrm>
              <a:off x="9905444" y="2090142"/>
              <a:ext cx="89646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TW" b="1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DLaM Display" panose="020F0502020204030204" pitchFamily="2" charset="0"/>
                </a:rPr>
                <a:t>AFTER</a:t>
              </a:r>
              <a:endParaRPr lang="zh-TW" alt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DLaM Display" panose="020F0502020204030204" pitchFamily="2" charset="0"/>
              </a:endParaRPr>
            </a:p>
          </p:txBody>
        </p:sp>
      </p:grp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7DEBAD5D-E184-1CD2-D5E8-EDFC6F52662D}"/>
              </a:ext>
            </a:extLst>
          </p:cNvPr>
          <p:cNvGrpSpPr/>
          <p:nvPr/>
        </p:nvGrpSpPr>
        <p:grpSpPr>
          <a:xfrm>
            <a:off x="4734900" y="3069000"/>
            <a:ext cx="2738326" cy="720000"/>
            <a:chOff x="4734900" y="3069000"/>
            <a:chExt cx="2738326" cy="720000"/>
          </a:xfrm>
        </p:grpSpPr>
        <p:sp>
          <p:nvSpPr>
            <p:cNvPr id="13" name="箭號: ＞形 12">
              <a:extLst>
                <a:ext uri="{FF2B5EF4-FFF2-40B4-BE49-F238E27FC236}">
                  <a16:creationId xmlns:a16="http://schemas.microsoft.com/office/drawing/2014/main" id="{696AEE3D-EE19-C693-27DC-7930A8996779}"/>
                </a:ext>
              </a:extLst>
            </p:cNvPr>
            <p:cNvSpPr/>
            <p:nvPr/>
          </p:nvSpPr>
          <p:spPr>
            <a:xfrm>
              <a:off x="4734900" y="3249000"/>
              <a:ext cx="360000" cy="360000"/>
            </a:xfrm>
            <a:prstGeom prst="chevron">
              <a:avLst/>
            </a:prstGeom>
            <a:solidFill>
              <a:schemeClr val="bg1"/>
            </a:solidFill>
            <a:ln>
              <a:solidFill>
                <a:srgbClr val="D7E5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箭號: ＞形 14">
              <a:extLst>
                <a:ext uri="{FF2B5EF4-FFF2-40B4-BE49-F238E27FC236}">
                  <a16:creationId xmlns:a16="http://schemas.microsoft.com/office/drawing/2014/main" id="{8FF1B978-206A-72B1-086E-10E92FE6C170}"/>
                </a:ext>
              </a:extLst>
            </p:cNvPr>
            <p:cNvSpPr/>
            <p:nvPr/>
          </p:nvSpPr>
          <p:spPr>
            <a:xfrm>
              <a:off x="5104481" y="3204000"/>
              <a:ext cx="450000" cy="450000"/>
            </a:xfrm>
            <a:prstGeom prst="chevron">
              <a:avLst/>
            </a:prstGeom>
            <a:solidFill>
              <a:schemeClr val="bg1"/>
            </a:solidFill>
            <a:ln>
              <a:solidFill>
                <a:srgbClr val="D7E5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箭號: ＞形 15">
              <a:extLst>
                <a:ext uri="{FF2B5EF4-FFF2-40B4-BE49-F238E27FC236}">
                  <a16:creationId xmlns:a16="http://schemas.microsoft.com/office/drawing/2014/main" id="{25380F45-42CB-3A59-B665-9E0F939904C7}"/>
                </a:ext>
              </a:extLst>
            </p:cNvPr>
            <p:cNvSpPr/>
            <p:nvPr/>
          </p:nvSpPr>
          <p:spPr>
            <a:xfrm>
              <a:off x="5564062" y="3159000"/>
              <a:ext cx="540000" cy="540000"/>
            </a:xfrm>
            <a:prstGeom prst="chevron">
              <a:avLst/>
            </a:prstGeom>
            <a:solidFill>
              <a:schemeClr val="bg1"/>
            </a:solidFill>
            <a:ln>
              <a:solidFill>
                <a:srgbClr val="D7E5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箭號: ＞形 16">
              <a:extLst>
                <a:ext uri="{FF2B5EF4-FFF2-40B4-BE49-F238E27FC236}">
                  <a16:creationId xmlns:a16="http://schemas.microsoft.com/office/drawing/2014/main" id="{2E28BB7D-D21C-63CA-CEF3-6C401F7170C9}"/>
                </a:ext>
              </a:extLst>
            </p:cNvPr>
            <p:cNvSpPr/>
            <p:nvPr/>
          </p:nvSpPr>
          <p:spPr>
            <a:xfrm>
              <a:off x="6113643" y="3114000"/>
              <a:ext cx="630000" cy="630000"/>
            </a:xfrm>
            <a:prstGeom prst="chevron">
              <a:avLst/>
            </a:prstGeom>
            <a:solidFill>
              <a:schemeClr val="bg1"/>
            </a:solidFill>
            <a:ln>
              <a:solidFill>
                <a:srgbClr val="D7E5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箭號: ＞形 17">
              <a:extLst>
                <a:ext uri="{FF2B5EF4-FFF2-40B4-BE49-F238E27FC236}">
                  <a16:creationId xmlns:a16="http://schemas.microsoft.com/office/drawing/2014/main" id="{9AF1E0FC-9477-012C-438F-B8C30BEE9978}"/>
                </a:ext>
              </a:extLst>
            </p:cNvPr>
            <p:cNvSpPr/>
            <p:nvPr/>
          </p:nvSpPr>
          <p:spPr>
            <a:xfrm>
              <a:off x="6753226" y="3069000"/>
              <a:ext cx="720000" cy="720000"/>
            </a:xfrm>
            <a:prstGeom prst="chevron">
              <a:avLst/>
            </a:prstGeom>
            <a:solidFill>
              <a:schemeClr val="bg1"/>
            </a:solidFill>
            <a:ln>
              <a:solidFill>
                <a:srgbClr val="D7E5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09280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橢圓 8">
            <a:extLst>
              <a:ext uri="{FF2B5EF4-FFF2-40B4-BE49-F238E27FC236}">
                <a16:creationId xmlns:a16="http://schemas.microsoft.com/office/drawing/2014/main" id="{14CAFE0F-4EA4-4A37-B59A-9B8675D479DB}"/>
              </a:ext>
            </a:extLst>
          </p:cNvPr>
          <p:cNvSpPr>
            <a:spLocks noGrp="1"/>
          </p:cNvSpPr>
          <p:nvPr/>
        </p:nvSpPr>
        <p:spPr>
          <a:xfrm>
            <a:off x="7848600" y="1447800"/>
            <a:ext cx="2571750" cy="2571750"/>
          </a:xfrm>
          <a:prstGeom prst="ellipse">
            <a:avLst/>
          </a:prstGeom>
          <a:solidFill>
            <a:srgbClr val="DDF5F6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AABB1D5D-AB6A-4661-BA6D-3C3F49DF0F05}"/>
              </a:ext>
            </a:extLst>
          </p:cNvPr>
          <p:cNvSpPr>
            <a:spLocks noGrp="1"/>
          </p:cNvSpPr>
          <p:nvPr/>
        </p:nvSpPr>
        <p:spPr>
          <a:xfrm>
            <a:off x="8839200" y="2952750"/>
            <a:ext cx="2190750" cy="2190750"/>
          </a:xfrm>
          <a:prstGeom prst="ellipse">
            <a:avLst/>
          </a:prstGeom>
          <a:solidFill>
            <a:srgbClr val="FFF4D6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B5D4F4A-2913-4853-AF7F-2C0769090764}"/>
              </a:ext>
            </a:extLst>
          </p:cNvPr>
          <p:cNvSpPr>
            <a:spLocks noGrp="1"/>
          </p:cNvSpPr>
          <p:nvPr/>
        </p:nvSpPr>
        <p:spPr>
          <a:xfrm>
            <a:off x="838200" y="2362200"/>
            <a:ext cx="50482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45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defRPr>
            </a:pPr>
            <a:r>
              <a:rPr sz="4500" b="1">
                <a:solidFill>
                  <a:srgbClr val="17344D"/>
                </a:solidFill>
                <a:latin typeface="Noto Sans TC"/>
                <a:ea typeface="Noto Sans TC"/>
                <a:cs typeface="Noto Sans TC"/>
              </a:rPr>
              <a:t>Q&amp;A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25676B2-1A3E-406F-A3D5-1F0443EB2177}"/>
              </a:ext>
            </a:extLst>
          </p:cNvPr>
          <p:cNvSpPr>
            <a:spLocks noGrp="1"/>
          </p:cNvSpPr>
          <p:nvPr/>
        </p:nvSpPr>
        <p:spPr>
          <a:xfrm>
            <a:off x="895350" y="3429000"/>
            <a:ext cx="33337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2F9BD3"/>
                </a:solidFill>
                <a:latin typeface="Noto Sans TC"/>
                <a:ea typeface="Noto Sans TC"/>
                <a:cs typeface="Noto Sans TC"/>
              </a:rPr>
              <a:t>謝謝聆聽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69E26F-E081-4236-A043-91EB548EAC6A}"/>
              </a:ext>
            </a:extLst>
          </p:cNvPr>
          <p:cNvSpPr>
            <a:spLocks noGrp="1"/>
          </p:cNvSpPr>
          <p:nvPr/>
        </p:nvSpPr>
        <p:spPr>
          <a:xfrm>
            <a:off x="895350" y="4829175"/>
            <a:ext cx="4000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小鳥過馬路  Traffic Bird</a:t>
            </a:r>
          </a:p>
        </p:txBody>
      </p:sp>
      <p:sp>
        <p:nvSpPr>
          <p:cNvPr id="6" name="直線接點 5">
            <a:extLst>
              <a:ext uri="{FF2B5EF4-FFF2-40B4-BE49-F238E27FC236}">
                <a16:creationId xmlns:a16="http://schemas.microsoft.com/office/drawing/2014/main" id="{A901D731-4E9C-4A3D-846C-51EC7E0EA35E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10744200" cy="0"/>
          </a:xfrm>
          <a:prstGeom prst="line">
            <a:avLst/>
          </a:prstGeom>
          <a:noFill/>
          <a:ln w="9525">
            <a:solidFill>
              <a:srgbClr val="D7E5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9FBC5FE-98E3-4D5C-9CCF-38E33572D564}"/>
              </a:ext>
            </a:extLst>
          </p:cNvPr>
          <p:cNvSpPr>
            <a:spLocks noGrp="1"/>
          </p:cNvSpPr>
          <p:nvPr/>
        </p:nvSpPr>
        <p:spPr>
          <a:xfrm>
            <a:off x="723900" y="6467475"/>
            <a:ext cx="4762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>
              <a:def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lang="en-US" altLang="zh-TW" sz="825" dirty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Traffic Bird</a:t>
            </a:r>
            <a:r>
              <a:rPr lang="zh-TW" altLang="en-US" sz="825" dirty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｜多人派對玩法提案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FEF1C22-E1DC-44E7-A2E8-566B09793989}"/>
              </a:ext>
            </a:extLst>
          </p:cNvPr>
          <p:cNvSpPr>
            <a:spLocks noGrp="1"/>
          </p:cNvSpPr>
          <p:nvPr/>
        </p:nvSpPr>
        <p:spPr>
          <a:xfrm>
            <a:off x="10953750" y="6467475"/>
            <a:ext cx="5143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57784"/>
                </a:solidFill>
                <a:latin typeface="Noto Sans TC"/>
                <a:ea typeface="Noto Sans TC"/>
                <a:cs typeface="Noto Sans TC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1271351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FC">
      <a:dk1>
        <a:sysClr val="windowText" lastClr="000000"/>
      </a:dk1>
      <a:lt1>
        <a:srgbClr val="FFFFFF"/>
      </a:lt1>
      <a:dk2>
        <a:srgbClr val="9B57D3"/>
      </a:dk2>
      <a:lt2>
        <a:srgbClr val="FFFFFF"/>
      </a:lt2>
      <a:accent1>
        <a:srgbClr val="EA4335"/>
      </a:accent1>
      <a:accent2>
        <a:srgbClr val="FF6D01"/>
      </a:accent2>
      <a:accent3>
        <a:srgbClr val="FBBC04"/>
      </a:accent3>
      <a:accent4>
        <a:srgbClr val="34A853"/>
      </a:accent4>
      <a:accent5>
        <a:srgbClr val="4285F4"/>
      </a:accent5>
      <a:accent6>
        <a:srgbClr val="46BDC6"/>
      </a:accent6>
      <a:hlink>
        <a:srgbClr val="1155CC"/>
      </a:hlink>
      <a:folHlink>
        <a:srgbClr val="1155CC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6819</TotalTime>
  <Words>631</Words>
  <Application>Microsoft Office PowerPoint</Application>
  <DocSecurity>0</DocSecurity>
  <PresentationFormat>寬螢幕</PresentationFormat>
  <Paragraphs>97</Paragraphs>
  <Slides>8</Slides>
  <Notes>8</Notes>
  <HiddenSlides>1</HiddenSlides>
  <MMClips>1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2" baseType="lpstr">
      <vt:lpstr>Noto Sans TC</vt:lpstr>
      <vt:lpstr>微軟正黑體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OLD_RD3高帆君</cp:lastModifiedBy>
  <cp:revision>111</cp:revision>
  <dcterms:created xsi:type="dcterms:W3CDTF">2026-09-15T10:11:06Z</dcterms:created>
  <dcterms:modified xsi:type="dcterms:W3CDTF">2026-09-22T01:12:24Z</dcterms:modified>
</cp:coreProperties>
</file>