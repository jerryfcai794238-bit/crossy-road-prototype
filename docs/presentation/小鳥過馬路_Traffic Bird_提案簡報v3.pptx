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e3d41b107f6743fe" /><Relationship Type="http://schemas.openxmlformats.org/officeDocument/2006/relationships/extended-properties" Target="/docProps/app.xml" Id="R7dfeed304dc74587" /><Relationship Type="http://schemas.openxmlformats.org/officeDocument/2006/relationships/officeDocument" Target="/ppt/presentation.xml" Id="R11470611fe2e4411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891fb8741c004365"/>
  </p:sldMasterIdLst>
  <p:notesMasterIdLst>
    <p:notesMasterId xmlns:r="http://schemas.openxmlformats.org/officeDocument/2006/relationships" r:id="Rec862a0ca0c34b28"/>
  </p:notesMasterIdLst>
  <p:sldIdLst>
    <p:sldId xmlns:r="http://schemas.openxmlformats.org/officeDocument/2006/relationships" id="256" r:id="R79762b233a6b450f"/>
    <p:sldId xmlns:r="http://schemas.openxmlformats.org/officeDocument/2006/relationships" id="257" r:id="Reb0621c217164e4b"/>
    <p:sldId xmlns:r="http://schemas.openxmlformats.org/officeDocument/2006/relationships" id="258" r:id="R2429146d8a754006"/>
    <p:sldId xmlns:r="http://schemas.openxmlformats.org/officeDocument/2006/relationships" id="259" r:id="R020c8fb1df2b4673"/>
    <p:sldId xmlns:r="http://schemas.openxmlformats.org/officeDocument/2006/relationships" id="260" r:id="R4dcf28f0f5ee479f"/>
    <p:sldId xmlns:r="http://schemas.openxmlformats.org/officeDocument/2006/relationships" id="261" r:id="R055b45833c6c487b"/>
    <p:sldId xmlns:r="http://schemas.openxmlformats.org/officeDocument/2006/relationships" id="262" r:id="R35bb0f64090f4d69"/>
    <p:sldId xmlns:r="http://schemas.openxmlformats.org/officeDocument/2006/relationships" id="263" r:id="Rc1cf5e68991f41c7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c05b3ccb720847f1" /><Relationship Type="http://schemas.openxmlformats.org/officeDocument/2006/relationships/slideMaster" Target="/ppt/slideMasters/slideMaster1.xml" Id="R891fb8741c004365" /><Relationship Type="http://schemas.openxmlformats.org/officeDocument/2006/relationships/notesMaster" Target="/ppt/notesMasters/notesMaster1.xml" Id="Rec862a0ca0c34b28" /><Relationship Type="http://schemas.openxmlformats.org/officeDocument/2006/relationships/presProps" Target="/ppt/presProps.xml" Id="Rbd4f75825b544eed" /><Relationship Type="http://schemas.openxmlformats.org/officeDocument/2006/relationships/tableStyles" Target="/ppt/tableStyles.xml" Id="R586ade5126154a58" /><Relationship Type="http://schemas.openxmlformats.org/officeDocument/2006/relationships/slide" Target="/ppt/slides/slide1.xml" Id="R79762b233a6b450f" /><Relationship Type="http://schemas.openxmlformats.org/officeDocument/2006/relationships/slide" Target="/ppt/slides/slide2.xml" Id="Reb0621c217164e4b" /><Relationship Type="http://schemas.openxmlformats.org/officeDocument/2006/relationships/slide" Target="/ppt/slides/slide3.xml" Id="R2429146d8a754006" /><Relationship Type="http://schemas.openxmlformats.org/officeDocument/2006/relationships/slide" Target="/ppt/slides/slide4.xml" Id="R020c8fb1df2b4673" /><Relationship Type="http://schemas.openxmlformats.org/officeDocument/2006/relationships/slide" Target="/ppt/slides/slide5.xml" Id="R4dcf28f0f5ee479f" /><Relationship Type="http://schemas.openxmlformats.org/officeDocument/2006/relationships/slide" Target="/ppt/slides/slide6.xml" Id="R055b45833c6c487b" /><Relationship Type="http://schemas.openxmlformats.org/officeDocument/2006/relationships/slide" Target="/ppt/slides/slide7.xml" Id="R35bb0f64090f4d69" /><Relationship Type="http://schemas.openxmlformats.org/officeDocument/2006/relationships/slide" Target="/ppt/slides/slide8.xml" Id="Rc1cf5e68991f41c7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960ca709828d4cac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a0dbfbe2eae3417d" /><Relationship Type="http://schemas.openxmlformats.org/officeDocument/2006/relationships/notesMaster" Target="/ppt/notesMasters/notesMaster1.xml" Id="R13e92bcbd03f47cb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9f8e534d43014f65" /><Relationship Type="http://schemas.openxmlformats.org/officeDocument/2006/relationships/notesMaster" Target="/ppt/notesMasters/notesMaster1.xml" Id="R8b0778d8a1d5480b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8606b8207ec641bb" /><Relationship Type="http://schemas.openxmlformats.org/officeDocument/2006/relationships/notesMaster" Target="/ppt/notesMasters/notesMaster1.xml" Id="Rf4a0578de8494f7d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8b0106b3f78b41f9" /><Relationship Type="http://schemas.openxmlformats.org/officeDocument/2006/relationships/notesMaster" Target="/ppt/notesMasters/notesMaster1.xml" Id="R78f459e5136545c4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6ae8005d6d5f49e9" /><Relationship Type="http://schemas.openxmlformats.org/officeDocument/2006/relationships/notesMaster" Target="/ppt/notesMasters/notesMaster1.xml" Id="R3f9f77efbed141f4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f0a1e0c8ecfa4397" /><Relationship Type="http://schemas.openxmlformats.org/officeDocument/2006/relationships/notesMaster" Target="/ppt/notesMasters/notesMaster1.xml" Id="R9c133fa3c8cc4a78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59ca07e73e0340f1" /><Relationship Type="http://schemas.openxmlformats.org/officeDocument/2006/relationships/notesMaster" Target="/ppt/notesMasters/notesMaster1.xml" Id="R188c045ee31f4f0a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ae74e8455096405e" /><Relationship Type="http://schemas.openxmlformats.org/officeDocument/2006/relationships/notesMaster" Target="/ppt/notesMasters/notesMaster1.xml" Id="Re7a7ac5d59744f53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資料來源：docs/presentation/提案簡報大綱v3.txt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今天要提案的是《小鳥過馬路》，希望以原本直覺的過馬路玩法為基礎，擴充成 5 人同時遊玩的多人派對遊戲。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資料來源：docs/presentation/提案簡報大綱v3.txt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今天會先快速看原本的核心玩法，再說明我們如何透過多人化，以及動態場景、體力、道具三個擴充，把它轉變成多人派對體驗。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資料來源：docs/presentation/提案簡報大綱v3.txt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競品原本以單人穿越道路、閃避障礙為主要體驗，操作直覺、理解門檻低。我們會保留這個核心，再加入 5 人同場競爭，讓原本的個人反應挑戰變成多人派對玩法。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影片安排：Artifact Tool 不支援可靠的 PowerPoint 原生影片嵌入，因此於正式交付資料夾保留同名來源 MP4，投影片明示播放檔案與 00:10–00:18 的使用範圍。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資料來源：docs/presentation/提案簡報大綱v3.txt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單人玩法加入 5 人同場後，核心不只是一起前進，而是大家會爭奪安全路線、彼此推擠。失足後會回出生點重新加入，因此每位玩家都能持續追趕，直到 120 秒結束依距離排名。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資料來源：docs/presentation/提案簡報大綱v3.txt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三個系統分別放大多人玩法的變化、決策與互動：動態場景讓大家搶路，體力讓移動時機有取捨，道具則讓玩家保護自己或直接影響局勢。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代表道具：落雷、火箭、老鷹、泡泡盾、蘇打汽水。這些名稱不作為本頁內容區塊，以維持資訊密度。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資料來源：docs/presentation/提案簡報大綱v3.txt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這些系統整合後，玩家不再只是自己閃車。動態場景會逼大家搶路，體力限制行動時機，道具又會改變局勢；即使失足也能回出生點重新追趕，讓整場持續有玩家互動與局勢變化。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資料來源：docs/presentation/提案簡報大綱v3.txt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下一步希望以 Prototype 驗證這三個核心擴充，確認在 5 人同場情境下，是否真的能產生預期的搶路、互動與反轉效果。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資料來源：docs/presentation/提案簡報大綱v3.txt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Q&amp;A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4bae850f7654bc9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0a364e36c1784f9d" /><Relationship Type="http://schemas.openxmlformats.org/officeDocument/2006/relationships/slideLayout" Target="/ppt/slideLayouts/slideLayout1.xml" Id="R284c460ab76f4c5f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284c460ab76f4c5f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220967ebce1435d" /><Relationship Type="http://schemas.openxmlformats.org/officeDocument/2006/relationships/notesSlide" Target="/ppt/notesSlides/notesSlide1.xml" Id="R0371633b9daa4d3f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640adcf56e54bf0" /><Relationship Type="http://schemas.openxmlformats.org/officeDocument/2006/relationships/notesSlide" Target="/ppt/notesSlides/notesSlide2.xml" Id="R462702d6180d47e9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aef703b0b124fc8" /><Relationship Type="http://schemas.openxmlformats.org/officeDocument/2006/relationships/notesSlide" Target="/ppt/notesSlides/notesSlide3.xml" Id="R4e9b735735f24559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7667b9fc99c452b" /><Relationship Type="http://schemas.openxmlformats.org/officeDocument/2006/relationships/notesSlide" Target="/ppt/notesSlides/notesSlide4.xml" Id="R8a623cbfec9b470b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e1a0790afee4e1d" /><Relationship Type="http://schemas.openxmlformats.org/officeDocument/2006/relationships/notesSlide" Target="/ppt/notesSlides/notesSlide5.xml" Id="R564b976683394dc6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0eac0ca6a814ab1" /><Relationship Type="http://schemas.openxmlformats.org/officeDocument/2006/relationships/notesSlide" Target="/ppt/notesSlides/notesSlide6.xml" Id="Rb2a1ee0caa2f4ef9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ad841098f564476" /><Relationship Type="http://schemas.openxmlformats.org/officeDocument/2006/relationships/notesSlide" Target="/ppt/notesSlides/notesSlide7.xml" Id="R90fcff62933a4afa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d989c0fd441471a" /><Relationship Type="http://schemas.openxmlformats.org/officeDocument/2006/relationships/notesSlide" Target="/ppt/notesSlides/notesSlide8.xml" Id="R7757a0a5f84542f0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BFA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A220056-ECC7-4E2A-A50B-C90278794C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DF5F6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4B4F827-ECD7-40A1-AE26-122B05A95F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1123950"/>
            <a:ext cx="2667000" cy="2667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DF5F6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F17AC03-5E5C-4E2C-9123-E53456B9E3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2038350"/>
            <a:ext cx="2667000" cy="2667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4D6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3BC3EE3-EE55-46DA-A91A-B3DA17B8FA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1714500"/>
            <a:ext cx="2381250" cy="1638300"/>
          </a:xfrm>
          <a:prstGeom xmlns:a="http://schemas.openxmlformats.org/drawingml/2006/main" prst="roundRect">
            <a:avLst>
              <a:gd name="adj" fmla="val 9302"/>
            </a:avLst>
          </a:prstGeom>
          <a:solidFill xmlns:a="http://schemas.openxmlformats.org/drawingml/2006/main">
            <a:srgbClr val="2F9BD3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27A669D-9296-4FF3-AAA3-9D7FC6D212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1924050"/>
            <a:ext cx="1924050" cy="114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F713EED-2E73-42E5-A88D-9DF3554814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2343150"/>
            <a:ext cx="1924050" cy="114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C12E41C-43F5-4992-B0D8-37C41EDCC5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2762250"/>
            <a:ext cx="1924050" cy="114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D711018-17F0-4A4E-B779-B427AE4ED3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571625"/>
            <a:ext cx="6477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050" b="1">
                <a:solidFill>
                  <a:srgbClr val="17344D"/>
                </a:solidFill>
                <a:latin typeface="Noto Sans TC"/>
                <a:ea typeface="Noto Sans TC"/>
                <a:cs typeface="Noto Sans TC"/>
              </a:defRPr>
            </a:pPr>
            <a:r>
              <a:rPr sz="4050" b="1">
                <a:solidFill>
                  <a:srgbClr val="17344D"/>
                </a:solidFill>
                <a:latin typeface="Noto Sans TC"/>
                <a:ea typeface="Noto Sans TC"/>
                <a:cs typeface="Noto Sans TC"/>
              </a:rPr>
              <a:t>小鳥過馬路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E32912E-0F8E-4CD9-B40B-6DAB9F2904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409825"/>
            <a:ext cx="4953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2F9BD3"/>
                </a:solidFill>
                <a:latin typeface="Noto Sans TC"/>
                <a:ea typeface="Noto Sans TC"/>
                <a:cs typeface="Noto Sans TC"/>
              </a:defRPr>
            </a:pPr>
            <a:r>
              <a:rPr sz="2400" b="1">
                <a:solidFill>
                  <a:srgbClr val="2F9BD3"/>
                </a:solidFill>
                <a:latin typeface="Noto Sans TC"/>
                <a:ea typeface="Noto Sans TC"/>
                <a:cs typeface="Noto Sans TC"/>
              </a:rPr>
              <a:t>Traffic Bird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B3154D9-E977-4AB1-BDF5-3D68417228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238500"/>
            <a:ext cx="4114800" cy="53340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FF4D6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D8F5E0A-924B-439C-B42B-BE6B589E83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333750"/>
            <a:ext cx="3714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7344D"/>
                </a:solidFill>
                <a:latin typeface="Noto Sans TC"/>
                <a:ea typeface="Noto Sans TC"/>
                <a:cs typeface="Noto Sans TC"/>
              </a:defRPr>
            </a:pPr>
            <a:r>
              <a:rPr sz="1575" b="1">
                <a:solidFill>
                  <a:srgbClr val="17344D"/>
                </a:solidFill>
                <a:latin typeface="Noto Sans TC"/>
                <a:ea typeface="Noto Sans TC"/>
                <a:cs typeface="Noto Sans TC"/>
              </a:rPr>
              <a:t>5 人多人派對玩法擴充提案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3363D7B-6206-47AB-BEE3-E9A6AAB0E5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105400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57784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657784"/>
                </a:solidFill>
                <a:latin typeface="Noto Sans TC"/>
                <a:ea typeface="Noto Sans TC"/>
                <a:cs typeface="Noto Sans TC"/>
              </a:rPr>
              <a:t>研發三部 2組  高帆君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31C8A8E-2244-4EFF-B818-1D08589D9A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581650"/>
            <a:ext cx="5715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263440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263440"/>
                </a:solidFill>
                <a:latin typeface="Noto Sans TC"/>
                <a:ea typeface="Noto Sans TC"/>
                <a:cs typeface="Noto Sans TC"/>
              </a:rPr>
              <a:t>以直覺過馬路玩法，延伸 5 人同場競爭</a:t>
            </a:r>
          </a:p>
        </p:txBody>
      </p:sp>
    </p:spTree>
    <p:extLst>
      <p:ext uri="{BB962C8B-B14F-4D97-AF65-F5344CB8AC3E}">
        <p14:creationId xmlns:p14="http://schemas.microsoft.com/office/powerpoint/2010/main" val="97662053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BFA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E4F6B4F-B24A-487A-ADC4-717422C184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95300"/>
            <a:ext cx="8382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344D"/>
                </a:solidFill>
                <a:latin typeface="Noto Sans TC"/>
                <a:ea typeface="Noto Sans TC"/>
                <a:cs typeface="Noto Sans TC"/>
              </a:defRPr>
            </a:pPr>
            <a:r>
              <a:rPr sz="2550" b="1">
                <a:solidFill>
                  <a:srgbClr val="17344D"/>
                </a:solidFill>
                <a:latin typeface="Noto Sans TC"/>
                <a:ea typeface="Noto Sans TC"/>
                <a:cs typeface="Noto Sans TC"/>
              </a:rPr>
              <a:t>目錄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5A47C75-D436-43B3-963A-E9E81B238E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133475"/>
            <a:ext cx="628650" cy="571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8C449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B67C7C6-5FEB-41C2-B04D-3497558B8C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542925"/>
            <a:ext cx="762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200" b="1">
                <a:solidFill>
                  <a:srgbClr val="2F9BD3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2F9BD3"/>
                </a:solidFill>
                <a:latin typeface="Noto Sans TC"/>
                <a:ea typeface="Noto Sans TC"/>
                <a:cs typeface="Noto Sans TC"/>
              </a:rPr>
              <a:t>02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F2536EE-53D6-417B-8741-E927F5D0C7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161925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DF5F6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1E9D6F1-A1E5-4366-89B6-07D6269014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1638300"/>
            <a:ext cx="4000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7344D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17344D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806C9F8-EFBE-4C9F-982A-12F6B7AEFE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1600200"/>
            <a:ext cx="6381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17344D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0">
                <a:solidFill>
                  <a:srgbClr val="17344D"/>
                </a:solidFill>
                <a:latin typeface="Noto Sans TC"/>
                <a:ea typeface="Noto Sans TC"/>
                <a:cs typeface="Noto Sans TC"/>
              </a:rPr>
              <a:t>競品玩法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45302D9-77CB-451B-B638-BEE586853E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2152650"/>
            <a:ext cx="6381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E5E8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2BA98BB-E5B1-4C64-BDE9-47EB3B7E8A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240030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8C449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A021286-B2DC-49EE-B224-6217CECE37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2419350"/>
            <a:ext cx="4000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7344D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17344D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7F88E48-F8CB-482B-AB33-52BDB2E742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2381250"/>
            <a:ext cx="6381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7344D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7344D"/>
                </a:solidFill>
                <a:latin typeface="Noto Sans TC"/>
                <a:ea typeface="Noto Sans TC"/>
                <a:cs typeface="Noto Sans TC"/>
              </a:rPr>
              <a:t>5 人多人核心循環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9730F45-C822-431C-B6D6-DFFC4E8725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2933700"/>
            <a:ext cx="6381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E5E8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3F26EB9-F68E-4DC9-B948-2E8F1DB0F5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318135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DF5F6"/>
          </a:solidFill>
          <a:ln xmlns:a="http://schemas.openxmlformats.org/drawingml/2006/main" w="0">
            <a:noFill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946A065-5798-4ADB-A4FE-2AD8307AAC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3200400"/>
            <a:ext cx="4000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7344D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17344D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1734E01-C080-4C60-8062-01C7FCB63C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3162300"/>
            <a:ext cx="6381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17344D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0">
                <a:solidFill>
                  <a:srgbClr val="17344D"/>
                </a:solidFill>
                <a:latin typeface="Noto Sans TC"/>
                <a:ea typeface="Noto Sans TC"/>
                <a:cs typeface="Noto Sans TC"/>
              </a:rPr>
              <a:t>三大玩法擴充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FD352B2-1765-4CFB-AEAF-705D7A18B6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3714750"/>
            <a:ext cx="6381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E5E8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369521C-7B0A-4B7E-A3B1-00D08C4B7A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396240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DF5F6"/>
          </a:solidFill>
          <a:ln xmlns:a="http://schemas.openxmlformats.org/drawingml/2006/main" w="0">
            <a:noFill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600F684-54EE-414D-8508-37E32A92F1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3981450"/>
            <a:ext cx="4000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7344D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17344D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D9DE00F-729E-4CD3-A564-A6FB5D7445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3943350"/>
            <a:ext cx="6381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17344D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0">
                <a:solidFill>
                  <a:srgbClr val="17344D"/>
                </a:solidFill>
                <a:latin typeface="Noto Sans TC"/>
                <a:ea typeface="Noto Sans TC"/>
                <a:cs typeface="Noto Sans TC"/>
              </a:rPr>
              <a:t>整合後的派對樂趣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33F892F-363F-4475-960B-8ED5994CF4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4495800"/>
            <a:ext cx="6381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E5E8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119F36D-AEBC-4BA6-9FDA-6F99FD9E15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74345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DF5F6"/>
          </a:solidFill>
          <a:ln xmlns:a="http://schemas.openxmlformats.org/drawingml/2006/main" w="0">
            <a:noFill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07101DF-884B-430A-A1B5-04350D7CCF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762500"/>
            <a:ext cx="4000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7344D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17344D"/>
                </a:solidFill>
                <a:latin typeface="Noto Sans TC"/>
                <a:ea typeface="Noto Sans TC"/>
                <a:cs typeface="Noto Sans TC"/>
              </a:rPr>
              <a:t>5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5F6A731-8161-487F-BBE9-0409901AA4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4724400"/>
            <a:ext cx="6381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17344D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0">
                <a:solidFill>
                  <a:srgbClr val="17344D"/>
                </a:solidFill>
                <a:latin typeface="Noto Sans TC"/>
                <a:ea typeface="Noto Sans TC"/>
                <a:cs typeface="Noto Sans TC"/>
              </a:rPr>
              <a:t>結論與下一步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2638B5C-CABD-46D5-A271-370CF206AB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5276850"/>
            <a:ext cx="6381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E5E8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8E6234E-6D42-4D15-9AC4-9B43C66277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1619250"/>
            <a:ext cx="1695450" cy="3505200"/>
          </a:xfrm>
          <a:prstGeom xmlns:a="http://schemas.openxmlformats.org/drawingml/2006/main" prst="roundRect">
            <a:avLst>
              <a:gd name="adj" fmla="val 8989"/>
            </a:avLst>
          </a:prstGeom>
          <a:solidFill xmlns:a="http://schemas.openxmlformats.org/drawingml/2006/main">
            <a:srgbClr val="F0FBFB"/>
          </a:solidFill>
          <a:ln xmlns:a="http://schemas.openxmlformats.org/drawingml/2006/main" w="0">
            <a:noFill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A4B38FC-4593-4F45-A618-8BD0DF98A9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2647950"/>
            <a:ext cx="13144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2F9BD3"/>
                </a:solidFill>
                <a:latin typeface="Noto Sans TC"/>
                <a:ea typeface="Noto Sans TC"/>
                <a:cs typeface="Noto Sans TC"/>
              </a:defRPr>
            </a:pPr>
            <a:r>
              <a:rPr sz="2100" b="1">
                <a:solidFill>
                  <a:srgbClr val="2F9BD3"/>
                </a:solidFill>
                <a:latin typeface="Noto Sans TC"/>
                <a:ea typeface="Noto Sans TC"/>
                <a:cs typeface="Noto Sans TC"/>
              </a:rPr>
              <a:t>2–3</a:t>
            </a:r>
          </a:p>
          <a:p xmlns:a="http://schemas.openxmlformats.org/drawingml/2006/main">
            <a:pPr algn="ctr">
              <a:defRPr sz="2100" b="1">
                <a:solidFill>
                  <a:srgbClr val="2F9BD3"/>
                </a:solidFill>
                <a:latin typeface="Noto Sans TC"/>
                <a:ea typeface="Noto Sans TC"/>
                <a:cs typeface="Noto Sans TC"/>
              </a:defRPr>
            </a:pPr>
            <a:r>
              <a:rPr sz="2100" b="1">
                <a:solidFill>
                  <a:srgbClr val="2F9BD3"/>
                </a:solidFill>
                <a:latin typeface="Noto Sans TC"/>
                <a:ea typeface="Noto Sans TC"/>
                <a:cs typeface="Noto Sans TC"/>
              </a:rPr>
              <a:t>分鐘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C0CED59-DA7D-4D4B-95A9-830A299A20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3581400"/>
            <a:ext cx="1314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657784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0">
                <a:solidFill>
                  <a:srgbClr val="657784"/>
                </a:solidFill>
                <a:latin typeface="Noto Sans TC"/>
                <a:ea typeface="Noto Sans TC"/>
                <a:cs typeface="Noto Sans TC"/>
              </a:rPr>
              <a:t>提案簡報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0AD1094-90AE-4290-8D54-39956122E7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62700"/>
            <a:ext cx="10744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E5E8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611341E-C8D7-44EB-B85C-94BC1F42E2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467475"/>
            <a:ext cx="476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57784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0">
                <a:solidFill>
                  <a:srgbClr val="657784"/>
                </a:solidFill>
                <a:latin typeface="Noto Sans TC"/>
                <a:ea typeface="Noto Sans TC"/>
                <a:cs typeface="Noto Sans TC"/>
              </a:rPr>
              <a:t>Traffic Bird｜5 人多人派對玩法擴充提案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2B54508-6F23-4097-934D-F5D44453FE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67475"/>
            <a:ext cx="5143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657784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0">
                <a:solidFill>
                  <a:srgbClr val="657784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2035670755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BFA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D1F64F5-1C15-42C6-BD26-514C0709FE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95300"/>
            <a:ext cx="8382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344D"/>
                </a:solidFill>
                <a:latin typeface="Noto Sans TC"/>
                <a:ea typeface="Noto Sans TC"/>
                <a:cs typeface="Noto Sans TC"/>
              </a:defRPr>
            </a:pPr>
            <a:r>
              <a:rPr sz="2550" b="1">
                <a:solidFill>
                  <a:srgbClr val="17344D"/>
                </a:solidFill>
                <a:latin typeface="Noto Sans TC"/>
                <a:ea typeface="Noto Sans TC"/>
                <a:cs typeface="Noto Sans TC"/>
              </a:rPr>
              <a:t>競品玩法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058CFAD-593D-413A-B9AA-CD7F942E1E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133475"/>
            <a:ext cx="628650" cy="571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8C449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F4C9AC6-C9BD-42CC-BDDA-E0D356A21E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542925"/>
            <a:ext cx="762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200" b="1">
                <a:solidFill>
                  <a:srgbClr val="2F9BD3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2F9BD3"/>
                </a:solidFill>
                <a:latin typeface="Noto Sans TC"/>
                <a:ea typeface="Noto Sans TC"/>
                <a:cs typeface="Noto Sans TC"/>
              </a:rPr>
              <a:t>03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A5371E2-2DBA-40E4-BDC7-F040E50B96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571625"/>
            <a:ext cx="3238500" cy="118110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5E8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31D0DC3-0F0B-436E-BC6B-C8A7B56E6B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17335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DF5F6"/>
          </a:solidFill>
          <a:ln xmlns:a="http://schemas.openxmlformats.org/drawingml/2006/main" w="0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8AEFDAA-55E9-4868-98D6-F029A14328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1733550"/>
            <a:ext cx="3429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2F9BD3"/>
                </a:solidFill>
                <a:latin typeface="Noto Sans TC"/>
                <a:ea typeface="Noto Sans TC"/>
                <a:cs typeface="Noto Sans TC"/>
              </a:defRPr>
            </a:pPr>
            <a:r>
              <a:rPr sz="1050" b="1">
                <a:solidFill>
                  <a:srgbClr val="2F9BD3"/>
                </a:solidFill>
                <a:latin typeface="Noto Sans TC"/>
                <a:ea typeface="Noto Sans TC"/>
                <a:cs typeface="Noto Sans TC"/>
              </a:rPr>
              <a:t>↑↓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EC7237B-3834-40E7-B2DF-0F3A30906B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1743075"/>
            <a:ext cx="2419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7344D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17344D"/>
                </a:solidFill>
                <a:latin typeface="Noto Sans TC"/>
                <a:ea typeface="Noto Sans TC"/>
                <a:cs typeface="Noto Sans TC"/>
              </a:rPr>
              <a:t>基本操作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92C456D-27F1-43E8-8B57-17C0C2BD60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143125"/>
            <a:ext cx="285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57784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0">
                <a:solidFill>
                  <a:srgbClr val="657784"/>
                </a:solidFill>
                <a:latin typeface="Noto Sans TC"/>
                <a:ea typeface="Noto Sans TC"/>
                <a:cs typeface="Noto Sans TC"/>
              </a:rPr>
              <a:t>上下左右移動角色，持續向前。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88E87EB-5DD5-4F72-8653-C50DB4EBF3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924175"/>
            <a:ext cx="3238500" cy="118110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5E8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DC29E73-42A1-4310-A3A3-3275574721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08610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4D6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D590C77-C259-4B88-B53A-270BB9989E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086100"/>
            <a:ext cx="3429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2F9BD3"/>
                </a:solidFill>
                <a:latin typeface="Noto Sans TC"/>
                <a:ea typeface="Noto Sans TC"/>
                <a:cs typeface="Noto Sans TC"/>
              </a:defRPr>
            </a:pPr>
            <a:r>
              <a:rPr sz="1050" b="1">
                <a:solidFill>
                  <a:srgbClr val="2F9BD3"/>
                </a:solidFill>
                <a:latin typeface="Noto Sans TC"/>
                <a:ea typeface="Noto Sans TC"/>
                <a:cs typeface="Noto Sans TC"/>
              </a:rPr>
              <a:t>◎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1C0EDC0-165A-4039-84B0-5985F19860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3095625"/>
            <a:ext cx="2419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7344D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17344D"/>
                </a:solidFill>
                <a:latin typeface="Noto Sans TC"/>
                <a:ea typeface="Noto Sans TC"/>
                <a:cs typeface="Noto Sans TC"/>
              </a:rPr>
              <a:t>基本目標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A379A58-D4CF-4EAC-ADA2-BC7B6CA1F6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495675"/>
            <a:ext cx="285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57784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0">
                <a:solidFill>
                  <a:srgbClr val="657784"/>
                </a:solidFill>
                <a:latin typeface="Noto Sans TC"/>
                <a:ea typeface="Noto Sans TC"/>
                <a:cs typeface="Noto Sans TC"/>
              </a:rPr>
              <a:t>閃避車輛、利用漂流木通過水面，盡可能走得更遠。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E0F14DC-71D0-46D8-9679-3993B68869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305300"/>
            <a:ext cx="3238500" cy="9906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5E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8E1A696-8D4D-4053-BA10-C28C632D5D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476750"/>
            <a:ext cx="2381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344D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17344D"/>
                </a:solidFill>
                <a:latin typeface="Noto Sans TC"/>
                <a:ea typeface="Noto Sans TC"/>
                <a:cs typeface="Noto Sans TC"/>
              </a:rPr>
              <a:t>原玩法核心樂趣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9606370-343B-402D-BDA9-CEE72D53D0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800600"/>
            <a:ext cx="2838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2F9BD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1">
                <a:solidFill>
                  <a:srgbClr val="2F9BD3"/>
                </a:solidFill>
                <a:latin typeface="Noto Sans TC"/>
                <a:ea typeface="Noto Sans TC"/>
                <a:cs typeface="Noto Sans TC"/>
              </a:rPr>
              <a:t>簡單操作 × 路況判斷 × 閃避反應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509EEC6-701D-4322-8396-D9DFDD53A3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1571625"/>
            <a:ext cx="6953250" cy="3733800"/>
          </a:xfrm>
          <a:prstGeom xmlns:a="http://schemas.openxmlformats.org/drawingml/2006/main" prst="roundRect">
            <a:avLst>
              <a:gd name="adj" fmla="val 4082"/>
            </a:avLst>
          </a:prstGeom>
          <a:solidFill xmlns:a="http://schemas.openxmlformats.org/drawingml/2006/main">
            <a:srgbClr val="F0FBFB"/>
          </a:solidFill>
          <a:ln xmlns:a="http://schemas.openxmlformats.org/drawingml/2006/main" w="9525">
            <a:solidFill>
              <a:srgbClr val="D7E5E8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5270C4B-FC28-4037-953D-16B8A9CE3B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1571625"/>
            <a:ext cx="6953250" cy="514350"/>
          </a:xfrm>
          <a:prstGeom xmlns:a="http://schemas.openxmlformats.org/drawingml/2006/main" prst="roundRect">
            <a:avLst>
              <a:gd name="adj" fmla="val 29630"/>
            </a:avLst>
          </a:prstGeom>
          <a:solidFill xmlns:a="http://schemas.openxmlformats.org/drawingml/2006/main">
            <a:srgbClr val="2F9BD3"/>
          </a:solidFill>
          <a:ln xmlns:a="http://schemas.openxmlformats.org/drawingml/2006/main" w="0">
            <a:noFill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E72FE06-7AB4-4E57-A897-716391E06C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1676400"/>
            <a:ext cx="6438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指定競品影片｜單人穿越道路、閃避障礙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8CCAFF5-5ED1-4693-A299-FB9D524673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2667000"/>
            <a:ext cx="990600" cy="990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8C449"/>
          </a:solidFill>
          <a:ln xmlns:a="http://schemas.openxmlformats.org/drawingml/2006/main" w="0">
            <a:noFill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CCEC754-9896-42C4-B885-88144A9155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2771775"/>
            <a:ext cx="6096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3450" b="1">
                <a:solidFill>
                  <a:srgbClr val="17344D"/>
                </a:solidFill>
                <a:latin typeface="Noto Sans TC"/>
                <a:ea typeface="Noto Sans TC"/>
                <a:cs typeface="Noto Sans TC"/>
              </a:defRPr>
            </a:pPr>
            <a:r>
              <a:rPr sz="3450" b="1">
                <a:solidFill>
                  <a:srgbClr val="17344D"/>
                </a:solidFill>
                <a:latin typeface="Noto Sans TC"/>
                <a:ea typeface="Noto Sans TC"/>
                <a:cs typeface="Noto Sans TC"/>
              </a:rPr>
              <a:t>▶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C5267A8-8AE8-48C8-BDF4-DFA53DC01E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895725"/>
            <a:ext cx="3276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7344D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17344D"/>
                </a:solidFill>
                <a:latin typeface="Noto Sans TC"/>
                <a:ea typeface="Noto Sans TC"/>
                <a:cs typeface="Noto Sans TC"/>
              </a:rPr>
              <a:t>播放範圍 00:10–00:18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212EC11-6FE9-42AE-94BE-6A8799D0A4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4314825"/>
            <a:ext cx="3905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657784"/>
                </a:solidFill>
                <a:latin typeface="Noto Sans TC"/>
                <a:ea typeface="Noto Sans TC"/>
                <a:cs typeface="Noto Sans TC"/>
              </a:defRPr>
            </a:pPr>
            <a:r>
              <a:rPr sz="1050" b="0">
                <a:solidFill>
                  <a:srgbClr val="657784"/>
                </a:solidFill>
                <a:latin typeface="Noto Sans TC"/>
                <a:ea typeface="Noto Sans TC"/>
                <a:cs typeface="Noto Sans TC"/>
              </a:rPr>
              <a:t>檔案：crossy-road-0010-0028.mp4</a:t>
            </a:r>
          </a:p>
          <a:p xmlns:a="http://schemas.openxmlformats.org/drawingml/2006/main">
            <a:pPr algn="ctr">
              <a:defRPr sz="1050" b="0">
                <a:solidFill>
                  <a:srgbClr val="657784"/>
                </a:solidFill>
                <a:latin typeface="Noto Sans TC"/>
                <a:ea typeface="Noto Sans TC"/>
                <a:cs typeface="Noto Sans TC"/>
              </a:defRPr>
            </a:pPr>
            <a:r>
              <a:rPr sz="1050" b="0">
                <a:solidFill>
                  <a:srgbClr val="657784"/>
                </a:solidFill>
                <a:latin typeface="Noto Sans TC"/>
                <a:ea typeface="Noto Sans TC"/>
                <a:cs typeface="Noto Sans TC"/>
              </a:rPr>
              <a:t>請與簡報置於同一資料夾播放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1AC955B-0E76-4D0F-B6FC-EC263A3D2F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57850"/>
            <a:ext cx="10706100" cy="457200"/>
          </a:xfrm>
          <a:prstGeom xmlns:a="http://schemas.openxmlformats.org/drawingml/2006/main" prst="roundRect">
            <a:avLst>
              <a:gd name="adj" fmla="val 33333"/>
            </a:avLst>
          </a:prstGeom>
          <a:solidFill xmlns:a="http://schemas.openxmlformats.org/drawingml/2006/main">
            <a:srgbClr val="FFF4D6"/>
          </a:solidFill>
          <a:ln xmlns:a="http://schemas.openxmlformats.org/drawingml/2006/main" w="0">
            <a:noFill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01CDCC5-31F1-4281-9A4B-DF0A5A54B4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743575"/>
            <a:ext cx="10325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7344D"/>
                </a:solidFill>
                <a:latin typeface="Noto Sans TC"/>
                <a:ea typeface="Noto Sans TC"/>
                <a:cs typeface="Noto Sans TC"/>
              </a:defRPr>
            </a:pPr>
            <a:r>
              <a:rPr sz="1575" b="1">
                <a:solidFill>
                  <a:srgbClr val="17344D"/>
                </a:solidFill>
                <a:latin typeface="Noto Sans TC"/>
                <a:ea typeface="Noto Sans TC"/>
                <a:cs typeface="Noto Sans TC"/>
              </a:rPr>
              <a:t>單人反應挑戰  →  5 人多人派對玩法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1B63968-3AB4-44F6-80E5-1DEB0451FC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62700"/>
            <a:ext cx="10744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E5E8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EB5CEF1-C26E-4F24-97E1-F4F662C4C0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467475"/>
            <a:ext cx="476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57784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0">
                <a:solidFill>
                  <a:srgbClr val="657784"/>
                </a:solidFill>
                <a:latin typeface="Noto Sans TC"/>
                <a:ea typeface="Noto Sans TC"/>
                <a:cs typeface="Noto Sans TC"/>
              </a:rPr>
              <a:t>Traffic Bird｜5 人多人派對玩法擴充提案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B45DBEE-8A83-46E9-94C3-C99A6211AF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67475"/>
            <a:ext cx="5143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657784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0">
                <a:solidFill>
                  <a:srgbClr val="657784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1007256448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BFA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4A00E0C0-807B-48F5-A68B-4846C227E4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95300"/>
            <a:ext cx="8382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344D"/>
                </a:solidFill>
                <a:latin typeface="Noto Sans TC"/>
                <a:ea typeface="Noto Sans TC"/>
                <a:cs typeface="Noto Sans TC"/>
              </a:defRPr>
            </a:pPr>
            <a:r>
              <a:rPr sz="2550" b="1">
                <a:solidFill>
                  <a:srgbClr val="17344D"/>
                </a:solidFill>
                <a:latin typeface="Noto Sans TC"/>
                <a:ea typeface="Noto Sans TC"/>
                <a:cs typeface="Noto Sans TC"/>
              </a:rPr>
              <a:t>5 人多人核心循環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EB664FF-2F80-4BA8-8739-B2D8DF6742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133475"/>
            <a:ext cx="628650" cy="571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8C449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3606A2D-5A05-4826-A0B5-74536871C3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542925"/>
            <a:ext cx="762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200" b="1">
                <a:solidFill>
                  <a:srgbClr val="2F9BD3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2F9BD3"/>
                </a:solidFill>
                <a:latin typeface="Noto Sans TC"/>
                <a:ea typeface="Noto Sans TC"/>
                <a:cs typeface="Noto Sans TC"/>
              </a:rPr>
              <a:t>04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839A25F-A60D-4865-B8D7-EDDDA935ED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524000"/>
            <a:ext cx="1981200" cy="1123950"/>
          </a:xfrm>
          <a:prstGeom xmlns:a="http://schemas.openxmlformats.org/drawingml/2006/main" prst="roundRect">
            <a:avLst>
              <a:gd name="adj" fmla="val 1355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5E8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FE781F7-BAD0-4F2B-A0DD-07109F44EA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1685925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DF5F6"/>
          </a:solidFill>
          <a:ln xmlns:a="http://schemas.openxmlformats.org/drawingml/2006/main" w="0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C31495A-68DC-49E1-84C4-EA0CCDDFED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1685925"/>
            <a:ext cx="3429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2F9BD3"/>
                </a:solidFill>
                <a:latin typeface="Noto Sans TC"/>
                <a:ea typeface="Noto Sans TC"/>
                <a:cs typeface="Noto Sans TC"/>
              </a:defRPr>
            </a:pPr>
            <a:r>
              <a:rPr sz="1050" b="1">
                <a:solidFill>
                  <a:srgbClr val="2F9BD3"/>
                </a:solidFill>
                <a:latin typeface="Noto Sans TC"/>
                <a:ea typeface="Noto Sans TC"/>
                <a:cs typeface="Noto Sans TC"/>
              </a:rPr>
              <a:t>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46E122A-C55C-4831-9920-8006038EF4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1695450"/>
            <a:ext cx="11620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7344D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17344D"/>
                </a:solidFill>
                <a:latin typeface="Noto Sans TC"/>
                <a:ea typeface="Noto Sans TC"/>
                <a:cs typeface="Noto Sans TC"/>
              </a:rPr>
              <a:t>5 人同場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A103CA6-52FA-430C-8F62-98A86F0EA2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95500"/>
            <a:ext cx="16002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57784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0">
                <a:solidFill>
                  <a:srgbClr val="657784"/>
                </a:solidFill>
                <a:latin typeface="Noto Sans TC"/>
                <a:ea typeface="Noto Sans TC"/>
                <a:cs typeface="Noto Sans TC"/>
              </a:rPr>
              <a:t>同時向前推進。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C5ED10C-178C-4A02-939C-A67DD5127F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1524000"/>
            <a:ext cx="1981200" cy="1123950"/>
          </a:xfrm>
          <a:prstGeom xmlns:a="http://schemas.openxmlformats.org/drawingml/2006/main" prst="roundRect">
            <a:avLst>
              <a:gd name="adj" fmla="val 1355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5E8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460BBD9-5093-4CB2-9713-FBCBF733F0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1685925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4D6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31E8A2E-89AA-4D3F-AAD9-16BA3AE3BE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1685925"/>
            <a:ext cx="3429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2F9BD3"/>
                </a:solidFill>
                <a:latin typeface="Noto Sans TC"/>
                <a:ea typeface="Noto Sans TC"/>
                <a:cs typeface="Noto Sans TC"/>
              </a:defRPr>
            </a:pPr>
            <a:r>
              <a:rPr sz="1050" b="1">
                <a:solidFill>
                  <a:srgbClr val="2F9BD3"/>
                </a:solidFill>
                <a:latin typeface="Noto Sans TC"/>
                <a:ea typeface="Noto Sans TC"/>
                <a:cs typeface="Noto Sans TC"/>
              </a:rPr>
              <a:t>↔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806DF2D-39D4-4BBF-A233-DFDECFD246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1695450"/>
            <a:ext cx="11620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7344D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17344D"/>
                </a:solidFill>
                <a:latin typeface="Noto Sans TC"/>
                <a:ea typeface="Noto Sans TC"/>
                <a:cs typeface="Noto Sans TC"/>
              </a:rPr>
              <a:t>相互推擠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787EDD6-6AE3-4896-ADFB-650A33FC00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2095500"/>
            <a:ext cx="16002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57784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0">
                <a:solidFill>
                  <a:srgbClr val="657784"/>
                </a:solidFill>
                <a:latin typeface="Noto Sans TC"/>
                <a:ea typeface="Noto Sans TC"/>
                <a:cs typeface="Noto Sans TC"/>
              </a:rPr>
              <a:t>爭奪安全路線與通過時機。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204EA19-4D90-4A68-9493-9C0398CA86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819400"/>
            <a:ext cx="1981200" cy="1123950"/>
          </a:xfrm>
          <a:prstGeom xmlns:a="http://schemas.openxmlformats.org/drawingml/2006/main" prst="roundRect">
            <a:avLst>
              <a:gd name="adj" fmla="val 1355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5E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57CC43D-214D-496E-8CF3-989A323472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981325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DF5F6"/>
          </a:solidFill>
          <a:ln xmlns:a="http://schemas.openxmlformats.org/drawingml/2006/main" w="0">
            <a:noFill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D8A06C1-76ED-40A0-965A-C93B4E27B9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981325"/>
            <a:ext cx="3429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2F9BD3"/>
                </a:solidFill>
                <a:latin typeface="Noto Sans TC"/>
                <a:ea typeface="Noto Sans TC"/>
                <a:cs typeface="Noto Sans TC"/>
              </a:defRPr>
            </a:pPr>
            <a:r>
              <a:rPr sz="1050" b="1">
                <a:solidFill>
                  <a:srgbClr val="2F9BD3"/>
                </a:solidFill>
                <a:latin typeface="Noto Sans TC"/>
                <a:ea typeface="Noto Sans TC"/>
                <a:cs typeface="Noto Sans TC"/>
              </a:rPr>
              <a:t>↺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7AE812C-6A8D-4E2A-9EF5-6B4701F7AF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2990850"/>
            <a:ext cx="11620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7344D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17344D"/>
                </a:solidFill>
                <a:latin typeface="Noto Sans TC"/>
                <a:ea typeface="Noto Sans TC"/>
                <a:cs typeface="Noto Sans TC"/>
              </a:rPr>
              <a:t>出生點重生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F5D9EDB-6B07-4111-9F1D-FB1CF39EA9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16002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57784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0">
                <a:solidFill>
                  <a:srgbClr val="657784"/>
                </a:solidFill>
                <a:latin typeface="Noto Sans TC"/>
                <a:ea typeface="Noto Sans TC"/>
                <a:cs typeface="Noto Sans TC"/>
              </a:rPr>
              <a:t>失足後立即重新加入。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09296AC-29B6-4B59-B71B-C79BDBFC1B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2819400"/>
            <a:ext cx="1981200" cy="1123950"/>
          </a:xfrm>
          <a:prstGeom xmlns:a="http://schemas.openxmlformats.org/drawingml/2006/main" prst="roundRect">
            <a:avLst>
              <a:gd name="adj" fmla="val 1355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5E8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88C942A-9E3F-460C-9467-8DB8A7A30C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2981325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4D6"/>
          </a:solidFill>
          <a:ln xmlns:a="http://schemas.openxmlformats.org/drawingml/2006/main" w="0">
            <a:noFill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F16361C-E71B-4F70-ACB7-EB4759678B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2981325"/>
            <a:ext cx="3429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2F9BD3"/>
                </a:solidFill>
                <a:latin typeface="Noto Sans TC"/>
                <a:ea typeface="Noto Sans TC"/>
                <a:cs typeface="Noto Sans TC"/>
              </a:defRPr>
            </a:pPr>
            <a:r>
              <a:rPr sz="1050" b="1">
                <a:solidFill>
                  <a:srgbClr val="2F9BD3"/>
                </a:solidFill>
                <a:latin typeface="Noto Sans TC"/>
                <a:ea typeface="Noto Sans TC"/>
                <a:cs typeface="Noto Sans TC"/>
              </a:rPr>
              <a:t>120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26DCE55-C6EC-4789-9F43-DE3AB9868B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2990850"/>
            <a:ext cx="11620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7344D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17344D"/>
                </a:solidFill>
                <a:latin typeface="Noto Sans TC"/>
                <a:ea typeface="Noto Sans TC"/>
                <a:cs typeface="Noto Sans TC"/>
              </a:rPr>
              <a:t>120 秒排名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3F7F944-DE94-4156-B736-A8A110F60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3390900"/>
            <a:ext cx="16002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57784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0">
                <a:solidFill>
                  <a:srgbClr val="657784"/>
                </a:solidFill>
                <a:latin typeface="Noto Sans TC"/>
                <a:ea typeface="Noto Sans TC"/>
                <a:cs typeface="Noto Sans TC"/>
              </a:rPr>
              <a:t>依本局最高前進距離結算。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FE1F565-F204-44CF-B3C0-DDAB698F02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324350"/>
            <a:ext cx="4114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7344D"/>
                </a:solidFill>
                <a:latin typeface="Noto Sans TC"/>
                <a:ea typeface="Noto Sans TC"/>
                <a:cs typeface="Noto Sans TC"/>
              </a:defRPr>
            </a:pPr>
            <a:r>
              <a:rPr sz="1650" b="1">
                <a:solidFill>
                  <a:srgbClr val="17344D"/>
                </a:solidFill>
                <a:latin typeface="Noto Sans TC"/>
                <a:ea typeface="Noto Sans TC"/>
                <a:cs typeface="Noto Sans TC"/>
              </a:rPr>
              <a:t>搶路、推擠、追趕，讓每位玩家持續參與競爭。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313B271-7D88-4E75-933C-FCD35D7F50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1485900"/>
            <a:ext cx="1809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0FBFB"/>
          </a:solidFill>
          <a:ln xmlns:a="http://schemas.openxmlformats.org/drawingml/2006/main" w="9525">
            <a:solidFill>
              <a:srgbClr val="D7E5E8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FBE523B-3AE8-4431-84D6-E1586543EB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1581150"/>
            <a:ext cx="15811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7344D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17344D"/>
                </a:solidFill>
                <a:latin typeface="Noto Sans TC"/>
                <a:ea typeface="Noto Sans TC"/>
                <a:cs typeface="Noto Sans TC"/>
              </a:rPr>
              <a:t>觀察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8C5CB18-1346-4CB1-954D-34B8DA9012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34275" y="1847850"/>
            <a:ext cx="15621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657784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0">
                <a:solidFill>
                  <a:srgbClr val="657784"/>
                </a:solidFill>
                <a:latin typeface="Noto Sans TC"/>
                <a:ea typeface="Noto Sans TC"/>
                <a:cs typeface="Noto Sans TC"/>
              </a:rPr>
              <a:t>路況與其他玩家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908341A-D789-4E47-A068-EF70BCA6C9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8350" y="2352675"/>
            <a:ext cx="167640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5E8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B91B7F5-E18F-42C3-9310-89F9E60477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2447925"/>
            <a:ext cx="1447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7344D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17344D"/>
                </a:solidFill>
                <a:latin typeface="Noto Sans TC"/>
                <a:ea typeface="Noto Sans TC"/>
                <a:cs typeface="Noto Sans TC"/>
              </a:rPr>
              <a:t>選擇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1BF05CB-B9CC-4C1E-B46E-D92B054D71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82175" y="2714625"/>
            <a:ext cx="1428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657784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0">
                <a:solidFill>
                  <a:srgbClr val="657784"/>
                </a:solidFill>
                <a:latin typeface="Noto Sans TC"/>
                <a:ea typeface="Noto Sans TC"/>
                <a:cs typeface="Noto Sans TC"/>
              </a:rPr>
              <a:t>路線與通過時機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B2B0739F-6A09-49DE-A6FA-68E010D4AB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3905250"/>
            <a:ext cx="1809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0FBFB"/>
          </a:solidFill>
          <a:ln xmlns:a="http://schemas.openxmlformats.org/drawingml/2006/main" w="9525">
            <a:solidFill>
              <a:srgbClr val="D7E5E8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CB2DB9CB-E9BB-4A90-9154-0F602EFE85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4000500"/>
            <a:ext cx="15811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7344D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17344D"/>
                </a:solidFill>
                <a:latin typeface="Noto Sans TC"/>
                <a:ea typeface="Noto Sans TC"/>
                <a:cs typeface="Noto Sans TC"/>
              </a:rPr>
              <a:t>移動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1443037-CDB2-458C-AEA8-E50E5BC25B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34475" y="4267200"/>
            <a:ext cx="15621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657784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0">
                <a:solidFill>
                  <a:srgbClr val="657784"/>
                </a:solidFill>
                <a:latin typeface="Noto Sans TC"/>
                <a:ea typeface="Noto Sans TC"/>
                <a:cs typeface="Noto Sans TC"/>
              </a:rPr>
              <a:t>閃避或相互推擠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E406C185-9F95-4F8B-90FE-F1748AE1BF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4352925"/>
            <a:ext cx="1809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5E8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DAACCE1F-C319-4B8D-8290-8ABA5A49E6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4448175"/>
            <a:ext cx="15811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7344D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17344D"/>
                </a:solidFill>
                <a:latin typeface="Noto Sans TC"/>
                <a:ea typeface="Noto Sans TC"/>
                <a:cs typeface="Noto Sans TC"/>
              </a:rPr>
              <a:t>結果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DFCC8496-6BB8-4B8A-B24A-CEB76DC045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86575" y="4714875"/>
            <a:ext cx="15621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657784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0">
                <a:solidFill>
                  <a:srgbClr val="657784"/>
                </a:solidFill>
                <a:latin typeface="Noto Sans TC"/>
                <a:ea typeface="Noto Sans TC"/>
                <a:cs typeface="Noto Sans TC"/>
              </a:rPr>
              <a:t>推進或回出生點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80FD01C4-C4E8-4B62-903F-6F76D1B47D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0" y="3086100"/>
            <a:ext cx="1809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0FBFB"/>
          </a:solidFill>
          <a:ln xmlns:a="http://schemas.openxmlformats.org/drawingml/2006/main" w="9525">
            <a:solidFill>
              <a:srgbClr val="D7E5E8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101B8672-8E94-4324-A669-C89A3D2D04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3050" y="3181350"/>
            <a:ext cx="15811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7344D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17344D"/>
                </a:solidFill>
                <a:latin typeface="Noto Sans TC"/>
                <a:ea typeface="Noto Sans TC"/>
                <a:cs typeface="Noto Sans TC"/>
              </a:rPr>
              <a:t>追趕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761764E9-4C8E-4F0F-9CC7-BC43287869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62575" y="3448050"/>
            <a:ext cx="15621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657784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0">
                <a:solidFill>
                  <a:srgbClr val="657784"/>
                </a:solidFill>
                <a:latin typeface="Noto Sans TC"/>
                <a:ea typeface="Noto Sans TC"/>
                <a:cs typeface="Noto Sans TC"/>
              </a:rPr>
              <a:t>依距離持續排名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EF45A748-D285-481F-9825-D9878A9F56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05675" y="2724150"/>
            <a:ext cx="1714500" cy="9715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4D6"/>
          </a:solidFill>
          <a:ln xmlns:a="http://schemas.openxmlformats.org/drawingml/2006/main" w="9525">
            <a:solidFill>
              <a:srgbClr val="F8C449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EE50CFFF-8FA6-406E-AED4-F6E2A54309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2857500"/>
            <a:ext cx="13525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7344D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17344D"/>
                </a:solidFill>
                <a:latin typeface="Noto Sans TC"/>
                <a:ea typeface="Noto Sans TC"/>
                <a:cs typeface="Noto Sans TC"/>
              </a:rPr>
              <a:t>5 人</a:t>
            </a:r>
          </a:p>
          <a:p xmlns:a="http://schemas.openxmlformats.org/drawingml/2006/main">
            <a:pPr algn="ctr">
              <a:defRPr sz="1500" b="1">
                <a:solidFill>
                  <a:srgbClr val="17344D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17344D"/>
                </a:solidFill>
                <a:latin typeface="Noto Sans TC"/>
                <a:ea typeface="Noto Sans TC"/>
                <a:cs typeface="Noto Sans TC"/>
              </a:rPr>
              <a:t>多人競爭</a:t>
            </a:r>
          </a:p>
        </p:txBody>
      </p:sp>
      <p:cxnSp>
        <p:nvCxnSpPr>
          <p:cNvPr id="91" name=""/>
          <p:cNvCxnSpPr>
            <a:stCxn xmlns:a="http://schemas.openxmlformats.org/drawingml/2006/main" id="25" idx="3"/>
            <a:endCxn xmlns:a="http://schemas.openxmlformats.org/drawingml/2006/main" id="28" idx="1"/>
          </p:cNvCxnSpPr>
          <p:nvPr/>
        </p:nvCxnSpPr>
        <p:spPr>
          <a:xfrm xmlns:a="http://schemas.openxmlformats.org/drawingml/2006/main" rot="16200000" flipH="1">
            <a:off x="9005888" y="2043113"/>
            <a:ext cx="866775" cy="438150"/>
          </a:xfrm>
          <a:prstGeom xmlns:a="http://schemas.openxmlformats.org/drawingml/2006/main" prst="curvedConnector3">
            <a:avLst>
              <a:gd name="adj1" fmla="val 50000"/>
            </a:avLst>
          </a:prstGeom>
          <a:ln xmlns:a="http://schemas.openxmlformats.org/drawingml/2006/main" w="19050">
            <a:solidFill>
              <a:srgbClr val="2F9BD3"/>
            </a:solidFill>
            <a:prstDash val="solid"/>
            <a:headEnd type="triangle" w="sm" len="sm"/>
          </a:ln>
        </p:spPr>
      </p:cxnSp>
      <p:cxnSp>
        <p:nvCxnSpPr>
          <p:cNvPr id="92" name=""/>
          <p:cNvCxnSpPr>
            <a:stCxn xmlns:a="http://schemas.openxmlformats.org/drawingml/2006/main" id="28" idx="2"/>
            <a:endCxn xmlns:a="http://schemas.openxmlformats.org/drawingml/2006/main" id="31" idx="0"/>
          </p:cNvCxnSpPr>
          <p:nvPr/>
        </p:nvCxnSpPr>
        <p:spPr>
          <a:xfrm xmlns:a="http://schemas.openxmlformats.org/drawingml/2006/main" rot="5400000">
            <a:off x="9772650" y="3181350"/>
            <a:ext cx="866775" cy="581025"/>
          </a:xfrm>
          <a:prstGeom xmlns:a="http://schemas.openxmlformats.org/drawingml/2006/main" prst="curvedConnector3">
            <a:avLst>
              <a:gd name="adj1" fmla="val 50000"/>
            </a:avLst>
          </a:prstGeom>
          <a:ln xmlns:a="http://schemas.openxmlformats.org/drawingml/2006/main" w="19050">
            <a:solidFill>
              <a:srgbClr val="2F9BD3"/>
            </a:solidFill>
            <a:prstDash val="solid"/>
            <a:headEnd type="triangle" w="sm" len="sm"/>
          </a:ln>
        </p:spPr>
      </p:cxnSp>
      <p:cxnSp>
        <p:nvCxnSpPr>
          <p:cNvPr id="93" name=""/>
          <p:cNvCxnSpPr>
            <a:stCxn xmlns:a="http://schemas.openxmlformats.org/drawingml/2006/main" id="31" idx="1"/>
            <a:endCxn xmlns:a="http://schemas.openxmlformats.org/drawingml/2006/main" id="34" idx="3"/>
          </p:cNvCxnSpPr>
          <p:nvPr/>
        </p:nvCxnSpPr>
        <p:spPr>
          <a:xfrm xmlns:a="http://schemas.openxmlformats.org/drawingml/2006/main" rot="5400000">
            <a:off x="8567738" y="4252913"/>
            <a:ext cx="447675" cy="438150"/>
          </a:xfrm>
          <a:prstGeom xmlns:a="http://schemas.openxmlformats.org/drawingml/2006/main" prst="curvedConnector3">
            <a:avLst>
              <a:gd name="adj1" fmla="val 50000"/>
            </a:avLst>
          </a:prstGeom>
          <a:ln xmlns:a="http://schemas.openxmlformats.org/drawingml/2006/main" w="19050">
            <a:solidFill>
              <a:srgbClr val="2F9BD3"/>
            </a:solidFill>
            <a:prstDash val="solid"/>
            <a:headEnd type="triangle" w="sm" len="sm"/>
          </a:ln>
        </p:spPr>
      </p:cxnSp>
      <p:cxnSp>
        <p:nvCxnSpPr>
          <p:cNvPr id="94" name=""/>
          <p:cNvCxnSpPr>
            <a:stCxn xmlns:a="http://schemas.openxmlformats.org/drawingml/2006/main" id="34" idx="1"/>
            <a:endCxn xmlns:a="http://schemas.openxmlformats.org/drawingml/2006/main" id="37" idx="2"/>
          </p:cNvCxnSpPr>
          <p:nvPr/>
        </p:nvCxnSpPr>
        <p:spPr>
          <a:xfrm xmlns:a="http://schemas.openxmlformats.org/drawingml/2006/main" rot="16200000" flipH="1">
            <a:off x="5991225" y="3924300"/>
            <a:ext cx="923925" cy="619125"/>
          </a:xfrm>
          <a:prstGeom xmlns:a="http://schemas.openxmlformats.org/drawingml/2006/main" prst="curvedConnector3">
            <a:avLst>
              <a:gd name="adj1" fmla="val 88846"/>
            </a:avLst>
          </a:prstGeom>
          <a:ln xmlns:a="http://schemas.openxmlformats.org/drawingml/2006/main" w="19050">
            <a:solidFill>
              <a:srgbClr val="2F9BD3"/>
            </a:solidFill>
            <a:prstDash val="solid"/>
            <a:headEnd type="triangle" w="sm" len="sm"/>
          </a:ln>
        </p:spPr>
      </p:cxnSp>
      <p:cxnSp>
        <p:nvCxnSpPr>
          <p:cNvPr id="95" name=""/>
          <p:cNvCxnSpPr>
            <a:stCxn xmlns:a="http://schemas.openxmlformats.org/drawingml/2006/main" id="37" idx="0"/>
            <a:endCxn xmlns:a="http://schemas.openxmlformats.org/drawingml/2006/main" id="25" idx="1"/>
          </p:cNvCxnSpPr>
          <p:nvPr/>
        </p:nvCxnSpPr>
        <p:spPr>
          <a:xfrm xmlns:a="http://schemas.openxmlformats.org/drawingml/2006/main" rot="5400000">
            <a:off x="6148388" y="1824038"/>
            <a:ext cx="1257300" cy="1266825"/>
          </a:xfrm>
          <a:prstGeom xmlns:a="http://schemas.openxmlformats.org/drawingml/2006/main" prst="curvedConnector3">
            <a:avLst>
              <a:gd name="adj1" fmla="val 59211"/>
            </a:avLst>
          </a:prstGeom>
          <a:ln xmlns:a="http://schemas.openxmlformats.org/drawingml/2006/main" w="19050">
            <a:solidFill>
              <a:srgbClr val="2F9BD3"/>
            </a:solidFill>
            <a:prstDash val="solid"/>
            <a:headEnd type="triangle" w="sm" len="sm"/>
          </a:ln>
        </p:spPr>
      </p:cxn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855447B6-3268-40D4-8F91-8E2A2BAFFF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62700"/>
            <a:ext cx="10744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E5E8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101AF2F7-0143-4880-AFE1-3904702CB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467475"/>
            <a:ext cx="476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57784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0">
                <a:solidFill>
                  <a:srgbClr val="657784"/>
                </a:solidFill>
                <a:latin typeface="Noto Sans TC"/>
                <a:ea typeface="Noto Sans TC"/>
                <a:cs typeface="Noto Sans TC"/>
              </a:rPr>
              <a:t>Traffic Bird｜5 人多人派對玩法擴充提案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881648CB-9BA3-4B8D-BA3C-964641595B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67475"/>
            <a:ext cx="5143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657784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0">
                <a:solidFill>
                  <a:srgbClr val="657784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967327225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BFA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75DA207-46A2-4F46-B07A-E74EE76E98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95300"/>
            <a:ext cx="8382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344D"/>
                </a:solidFill>
                <a:latin typeface="Noto Sans TC"/>
                <a:ea typeface="Noto Sans TC"/>
                <a:cs typeface="Noto Sans TC"/>
              </a:defRPr>
            </a:pPr>
            <a:r>
              <a:rPr sz="2550" b="1">
                <a:solidFill>
                  <a:srgbClr val="17344D"/>
                </a:solidFill>
                <a:latin typeface="Noto Sans TC"/>
                <a:ea typeface="Noto Sans TC"/>
                <a:cs typeface="Noto Sans TC"/>
              </a:rPr>
              <a:t>三大玩法擴充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87C7E7C-BC52-4591-B9F1-A4A865665D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133475"/>
            <a:ext cx="628650" cy="571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8C449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219E40A-6392-47C2-81F1-CD6BECA927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542925"/>
            <a:ext cx="762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200" b="1">
                <a:solidFill>
                  <a:srgbClr val="2F9BD3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2F9BD3"/>
                </a:solidFill>
                <a:latin typeface="Noto Sans TC"/>
                <a:ea typeface="Noto Sans TC"/>
                <a:cs typeface="Noto Sans TC"/>
              </a:rPr>
              <a:t>05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1C4D8F2-05F5-47FE-9FB5-673BA597E3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685925"/>
            <a:ext cx="3314700" cy="2895600"/>
          </a:xfrm>
          <a:prstGeom xmlns:a="http://schemas.openxmlformats.org/drawingml/2006/main" prst="roundRect">
            <a:avLst>
              <a:gd name="adj" fmla="val 526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5E8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7BA2A85-1317-4278-9107-A653BC107E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1933575"/>
            <a:ext cx="876300" cy="876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DF5F6"/>
          </a:solidFill>
          <a:ln xmlns:a="http://schemas.openxmlformats.org/drawingml/2006/main" w="0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C4B79C3-ADD6-4AB9-B4CD-1C6D62C656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2076450"/>
            <a:ext cx="8763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17344D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7344D"/>
                </a:solidFill>
                <a:latin typeface="Noto Sans TC"/>
                <a:ea typeface="Noto Sans TC"/>
                <a:cs typeface="Noto Sans TC"/>
              </a:rPr>
              <a:t>①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912A53A-148D-4AC8-9DDC-2AA32AC88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028950"/>
            <a:ext cx="27813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7344D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7344D"/>
                </a:solidFill>
                <a:latin typeface="Noto Sans TC"/>
                <a:ea typeface="Noto Sans TC"/>
                <a:cs typeface="Noto Sans TC"/>
              </a:rPr>
              <a:t>動態場景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E5B4C3F-C646-4235-8CC1-D198BD19C2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381375"/>
            <a:ext cx="2781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2F9BD3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2F9BD3"/>
                </a:solidFill>
                <a:latin typeface="Noto Sans TC"/>
                <a:ea typeface="Noto Sans TC"/>
                <a:cs typeface="Noto Sans TC"/>
              </a:rPr>
              <a:t>改變可通行路線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EB4A77A-F242-4E0D-8049-709B0C8AD3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819525"/>
            <a:ext cx="27432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657784"/>
                </a:solidFill>
                <a:latin typeface="Noto Sans TC"/>
                <a:ea typeface="Noto Sans TC"/>
                <a:cs typeface="Noto Sans TC"/>
              </a:defRPr>
            </a:pPr>
            <a:r>
              <a:rPr sz="1050" b="0">
                <a:solidFill>
                  <a:srgbClr val="657784"/>
                </a:solidFill>
                <a:latin typeface="Noto Sans TC"/>
                <a:ea typeface="Noto Sans TC"/>
                <a:cs typeface="Noto Sans TC"/>
              </a:rPr>
              <a:t>坑洞限制路線；斷橋形成搶路；高速車輛提高局部風險。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E7AB219-04DA-485A-871C-EBD8C557EF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1685925"/>
            <a:ext cx="3314700" cy="2895600"/>
          </a:xfrm>
          <a:prstGeom xmlns:a="http://schemas.openxmlformats.org/drawingml/2006/main" prst="roundRect">
            <a:avLst>
              <a:gd name="adj" fmla="val 526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5E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487BC2B-8F5C-4AE3-9460-85F8DDB6BD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1933575"/>
            <a:ext cx="876300" cy="876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4D6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03D6F11-A975-4F21-A024-7CF04414A2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2076450"/>
            <a:ext cx="8763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17344D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7344D"/>
                </a:solidFill>
                <a:latin typeface="Noto Sans TC"/>
                <a:ea typeface="Noto Sans TC"/>
                <a:cs typeface="Noto Sans TC"/>
              </a:rPr>
              <a:t>②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E6728FC-B237-47BF-8B8E-05E72AEB42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3028950"/>
            <a:ext cx="27813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7344D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7344D"/>
                </a:solidFill>
                <a:latin typeface="Noto Sans TC"/>
                <a:ea typeface="Noto Sans TC"/>
                <a:cs typeface="Noto Sans TC"/>
              </a:rPr>
              <a:t>體力策略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D72D2A7-054E-46EE-9FFC-29157E0B8B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3381375"/>
            <a:ext cx="2781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2F9BD3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2F9BD3"/>
                </a:solidFill>
                <a:latin typeface="Noto Sans TC"/>
                <a:ea typeface="Noto Sans TC"/>
                <a:cs typeface="Noto Sans TC"/>
              </a:rPr>
              <a:t>創造移動時機的取捨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6854A4B-1EA5-4C36-A9C3-463117A5F4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3819525"/>
            <a:ext cx="27432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657784"/>
                </a:solidFill>
                <a:latin typeface="Noto Sans TC"/>
                <a:ea typeface="Noto Sans TC"/>
                <a:cs typeface="Noto Sans TC"/>
              </a:defRPr>
            </a:pPr>
            <a:r>
              <a:rPr sz="1050" b="0">
                <a:solidFill>
                  <a:srgbClr val="657784"/>
                </a:solidFill>
                <a:latin typeface="Noto Sans TC"/>
                <a:ea typeface="Noto Sans TC"/>
                <a:cs typeface="Noto Sans TC"/>
              </a:rPr>
              <a:t>每次移動消耗體力，停留後恢復；玩家需選擇前進、等待或冒險搶路。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832F413-82C5-45D4-B9FF-FB816A4C4B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1685925"/>
            <a:ext cx="3314700" cy="2895600"/>
          </a:xfrm>
          <a:prstGeom xmlns:a="http://schemas.openxmlformats.org/drawingml/2006/main" prst="roundRect">
            <a:avLst>
              <a:gd name="adj" fmla="val 526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5E8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17C43D0-EC1F-45CB-8B35-8D1B782156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1933575"/>
            <a:ext cx="876300" cy="876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DEADD"/>
          </a:solidFill>
          <a:ln xmlns:a="http://schemas.openxmlformats.org/drawingml/2006/main" w="0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8B51A20-F890-4C64-89A0-CEA131C46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2076450"/>
            <a:ext cx="8763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17344D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7344D"/>
                </a:solidFill>
                <a:latin typeface="Noto Sans TC"/>
                <a:ea typeface="Noto Sans TC"/>
                <a:cs typeface="Noto Sans TC"/>
              </a:rPr>
              <a:t>③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383603D-556D-448D-BE88-87DC0836FC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3028950"/>
            <a:ext cx="27813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7344D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7344D"/>
                </a:solidFill>
                <a:latin typeface="Noto Sans TC"/>
                <a:ea typeface="Noto Sans TC"/>
                <a:cs typeface="Noto Sans TC"/>
              </a:rPr>
              <a:t>互動道具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4D9D721-1CC6-4962-919E-30750C1253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3381375"/>
            <a:ext cx="2781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2F9BD3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2F9BD3"/>
                </a:solidFill>
                <a:latin typeface="Noto Sans TC"/>
                <a:ea typeface="Noto Sans TC"/>
                <a:cs typeface="Noto Sans TC"/>
              </a:rPr>
              <a:t>保護自己或影響局勢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89DF361-84F4-40CE-86CF-3D09AB0228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3819525"/>
            <a:ext cx="27432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657784"/>
                </a:solidFill>
                <a:latin typeface="Noto Sans TC"/>
                <a:ea typeface="Noto Sans TC"/>
                <a:cs typeface="Noto Sans TC"/>
              </a:defRPr>
            </a:pPr>
            <a:r>
              <a:rPr sz="1050" b="0">
                <a:solidFill>
                  <a:srgbClr val="657784"/>
                </a:solidFill>
                <a:latin typeface="Noto Sans TC"/>
                <a:ea typeface="Noto Sans TC"/>
                <a:cs typeface="Noto Sans TC"/>
              </a:rPr>
              <a:t>問號箱隨機提供道具，形成攻擊、保護與追趕的玩家互動。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8F24917-E3A6-4B42-8B2B-0B74785C6A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191125"/>
            <a:ext cx="10706100" cy="6096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FFF4D6"/>
          </a:solidFill>
          <a:ln xmlns:a="http://schemas.openxmlformats.org/drawingml/2006/main" w="0">
            <a:noFill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10D8C5A-5277-4E06-B88A-40695FDDBC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324475"/>
            <a:ext cx="10287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7344D"/>
                </a:solidFill>
                <a:latin typeface="Noto Sans TC"/>
                <a:ea typeface="Noto Sans TC"/>
                <a:cs typeface="Noto Sans TC"/>
              </a:defRPr>
            </a:pPr>
            <a:r>
              <a:rPr sz="1650" b="1">
                <a:solidFill>
                  <a:srgbClr val="17344D"/>
                </a:solidFill>
                <a:latin typeface="Noto Sans TC"/>
                <a:ea typeface="Noto Sans TC"/>
                <a:cs typeface="Noto Sans TC"/>
              </a:rPr>
              <a:t>動態場景製造變化  ＋  體力製造決策  ＋  道具製造玩家互動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4E61265-2123-4402-B7E9-25D3D6A64D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62700"/>
            <a:ext cx="10744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E5E8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B8C26D0-6835-42E5-B997-AB4621A974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467475"/>
            <a:ext cx="476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57784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0">
                <a:solidFill>
                  <a:srgbClr val="657784"/>
                </a:solidFill>
                <a:latin typeface="Noto Sans TC"/>
                <a:ea typeface="Noto Sans TC"/>
                <a:cs typeface="Noto Sans TC"/>
              </a:rPr>
              <a:t>Traffic Bird｜5 人多人派對玩法擴充提案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996E192-DC6C-43D4-A804-85EA0BBE4E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67475"/>
            <a:ext cx="5143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657784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0">
                <a:solidFill>
                  <a:srgbClr val="657784"/>
                </a:solidFill>
                <a:latin typeface="Noto Sans TC"/>
                <a:ea typeface="Noto Sans TC"/>
                <a:cs typeface="Noto Sans TC"/>
              </a:rPr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1896433640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BFA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C7BB80E7-434C-431C-AEBD-6A75534253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95300"/>
            <a:ext cx="8382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344D"/>
                </a:solidFill>
                <a:latin typeface="Noto Sans TC"/>
                <a:ea typeface="Noto Sans TC"/>
                <a:cs typeface="Noto Sans TC"/>
              </a:defRPr>
            </a:pPr>
            <a:r>
              <a:rPr sz="2550" b="1">
                <a:solidFill>
                  <a:srgbClr val="17344D"/>
                </a:solidFill>
                <a:latin typeface="Noto Sans TC"/>
                <a:ea typeface="Noto Sans TC"/>
                <a:cs typeface="Noto Sans TC"/>
              </a:rPr>
              <a:t>整合後的派對樂趣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819B29A-2C77-4C2C-8676-D2A3D6E7CB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133475"/>
            <a:ext cx="628650" cy="571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8C449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F8586E2-84FD-4D3F-8FE0-0C824C3F08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542925"/>
            <a:ext cx="762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200" b="1">
                <a:solidFill>
                  <a:srgbClr val="2F9BD3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2F9BD3"/>
                </a:solidFill>
                <a:latin typeface="Noto Sans TC"/>
                <a:ea typeface="Noto Sans TC"/>
                <a:cs typeface="Noto Sans TC"/>
              </a:rPr>
              <a:t>06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8D4F930-12FF-440E-9E1A-9B708F8B9F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905000"/>
            <a:ext cx="2228850" cy="3143250"/>
          </a:xfrm>
          <a:prstGeom xmlns:a="http://schemas.openxmlformats.org/drawingml/2006/main" prst="roundRect">
            <a:avLst>
              <a:gd name="adj" fmla="val 6838"/>
            </a:avLst>
          </a:prstGeom>
          <a:solidFill xmlns:a="http://schemas.openxmlformats.org/drawingml/2006/main">
            <a:srgbClr val="F0FBFB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F2008E8-B74C-4A40-808C-01188D6E9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333625"/>
            <a:ext cx="1657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2F9BD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2F9BD3"/>
                </a:solidFill>
                <a:latin typeface="Noto Sans TC"/>
                <a:ea typeface="Noto Sans TC"/>
                <a:cs typeface="Noto Sans TC"/>
              </a:rPr>
              <a:t>原本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29048B7-64A2-4CFD-B53D-3A11CF5D8E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914650"/>
            <a:ext cx="16573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17344D"/>
                </a:solidFill>
                <a:latin typeface="Noto Sans TC"/>
                <a:ea typeface="Noto Sans TC"/>
                <a:cs typeface="Noto Sans TC"/>
              </a:defRPr>
            </a:pPr>
            <a:r>
              <a:rPr sz="2100" b="1">
                <a:solidFill>
                  <a:srgbClr val="17344D"/>
                </a:solidFill>
                <a:latin typeface="Noto Sans TC"/>
                <a:ea typeface="Noto Sans TC"/>
                <a:cs typeface="Noto Sans TC"/>
              </a:rPr>
              <a:t>自己閃車</a:t>
            </a:r>
          </a:p>
          <a:p xmlns:a="http://schemas.openxmlformats.org/drawingml/2006/main">
            <a:pPr algn="ctr">
              <a:defRPr sz="2100" b="1">
                <a:solidFill>
                  <a:srgbClr val="17344D"/>
                </a:solidFill>
                <a:latin typeface="Noto Sans TC"/>
                <a:ea typeface="Noto Sans TC"/>
                <a:cs typeface="Noto Sans TC"/>
              </a:defRPr>
            </a:pPr>
            <a:r>
              <a:rPr sz="2100" b="1">
                <a:solidFill>
                  <a:srgbClr val="17344D"/>
                </a:solidFill>
                <a:latin typeface="Noto Sans TC"/>
                <a:ea typeface="Noto Sans TC"/>
                <a:cs typeface="Noto Sans TC"/>
              </a:rPr>
              <a:t>往前走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0C9BE25-0109-47DB-8E38-D73385A65C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1905000"/>
            <a:ext cx="2228850" cy="3143250"/>
          </a:xfrm>
          <a:prstGeom xmlns:a="http://schemas.openxmlformats.org/drawingml/2006/main" prst="roundRect">
            <a:avLst>
              <a:gd name="adj" fmla="val 6838"/>
            </a:avLst>
          </a:prstGeom>
          <a:solidFill xmlns:a="http://schemas.openxmlformats.org/drawingml/2006/main">
            <a:srgbClr val="FFF4D6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4301E75-71B3-47E0-A43B-A218E30B33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2238375"/>
            <a:ext cx="1657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59B4C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59B4C"/>
                </a:solidFill>
                <a:latin typeface="Noto Sans TC"/>
                <a:ea typeface="Noto Sans TC"/>
                <a:cs typeface="Noto Sans TC"/>
              </a:rPr>
              <a:t>擴充後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1470B57-18E4-4663-A2AB-511AC658D5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2724150"/>
            <a:ext cx="165735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17344D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7344D"/>
                </a:solidFill>
                <a:latin typeface="Noto Sans TC"/>
                <a:ea typeface="Noto Sans TC"/>
                <a:cs typeface="Noto Sans TC"/>
              </a:rPr>
              <a:t>五個人一起搶路</a:t>
            </a:r>
          </a:p>
          <a:p xmlns:a="http://schemas.openxmlformats.org/drawingml/2006/main">
            <a:pPr algn="ctr">
              <a:defRPr sz="1875" b="1">
                <a:solidFill>
                  <a:srgbClr val="17344D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7344D"/>
                </a:solidFill>
                <a:latin typeface="Noto Sans TC"/>
                <a:ea typeface="Noto Sans TC"/>
                <a:cs typeface="Noto Sans TC"/>
              </a:rPr>
              <a:t>互相影響</a:t>
            </a:r>
          </a:p>
          <a:p xmlns:a="http://schemas.openxmlformats.org/drawingml/2006/main">
            <a:pPr algn="ctr">
              <a:defRPr sz="1875" b="1">
                <a:solidFill>
                  <a:srgbClr val="17344D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7344D"/>
                </a:solidFill>
                <a:latin typeface="Noto Sans TC"/>
                <a:ea typeface="Noto Sans TC"/>
                <a:cs typeface="Noto Sans TC"/>
              </a:rPr>
              <a:t>持續追趕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BCC5FC8-9ACD-486A-A2F1-FABEEBF80C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1466850"/>
            <a:ext cx="523875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F0FBFB"/>
          </a:solidFill>
          <a:ln xmlns:a="http://schemas.openxmlformats.org/drawingml/2006/main" w="9525">
            <a:solidFill>
              <a:srgbClr val="D7E5E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27A7837-F9B3-4853-AE1B-ACF9247DAB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1552575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8C449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080A301-3BCB-441C-8D7E-03B0097C92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1562100"/>
            <a:ext cx="304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17344D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17344D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68B315E-0741-4C0E-BFCD-14D1BEB8F0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1562100"/>
            <a:ext cx="428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7344D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17344D"/>
                </a:solidFill>
                <a:latin typeface="Noto Sans TC"/>
                <a:ea typeface="Noto Sans TC"/>
                <a:cs typeface="Noto Sans TC"/>
              </a:rPr>
              <a:t>多人同時前進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8EEEAA9-5495-4F7F-9095-D54ED7ADA0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2133600"/>
            <a:ext cx="523875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5E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6D58CDC-E03B-466F-A107-783A0B421F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219325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8C449"/>
          </a:solidFill>
          <a:ln xmlns:a="http://schemas.openxmlformats.org/drawingml/2006/main" w="0">
            <a:noFill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55B3215-0891-4648-9A19-209BAEDF20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228850"/>
            <a:ext cx="304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17344D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17344D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415ED3D-F183-4676-AC4A-5F52FD7F17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2228850"/>
            <a:ext cx="428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7344D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17344D"/>
                </a:solidFill>
                <a:latin typeface="Noto Sans TC"/>
                <a:ea typeface="Noto Sans TC"/>
                <a:cs typeface="Noto Sans TC"/>
              </a:rPr>
              <a:t>動態場景改變安全路線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4DBC3E3-3E12-4503-BFCE-934DDEEDB7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1933575"/>
            <a:ext cx="152400" cy="171450"/>
          </a:xfrm>
          <a:prstGeom xmlns:a="http://schemas.openxmlformats.org/drawingml/2006/main" prst="downArrow">
            <a:avLst/>
          </a:prstGeom>
          <a:solidFill xmlns:a="http://schemas.openxmlformats.org/drawingml/2006/main">
            <a:srgbClr val="2F9BD3"/>
          </a:solidFill>
          <a:ln xmlns:a="http://schemas.openxmlformats.org/drawingml/2006/main" w="0">
            <a:noFill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D3D2C4E-D665-4177-922E-C609EA54EA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2800350"/>
            <a:ext cx="523875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F0FBFB"/>
          </a:solidFill>
          <a:ln xmlns:a="http://schemas.openxmlformats.org/drawingml/2006/main" w="9525">
            <a:solidFill>
              <a:srgbClr val="D7E5E8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1BE2D48-D256-48A1-8E8B-33245696FE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886075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8C449"/>
          </a:solidFill>
          <a:ln xmlns:a="http://schemas.openxmlformats.org/drawingml/2006/main" w="0">
            <a:noFill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4B8C491-4266-4F77-8556-A7271F142C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895600"/>
            <a:ext cx="304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17344D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17344D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931CD91-9133-4FFB-A28C-EEE17A3B7C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2895600"/>
            <a:ext cx="428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7344D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17344D"/>
                </a:solidFill>
                <a:latin typeface="Noto Sans TC"/>
                <a:ea typeface="Noto Sans TC"/>
                <a:cs typeface="Noto Sans TC"/>
              </a:rPr>
              <a:t>判斷體力與移動時機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2FE65CB-7FED-4A18-A164-46F5C04970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2600325"/>
            <a:ext cx="152400" cy="171450"/>
          </a:xfrm>
          <a:prstGeom xmlns:a="http://schemas.openxmlformats.org/drawingml/2006/main" prst="downArrow">
            <a:avLst/>
          </a:prstGeom>
          <a:solidFill xmlns:a="http://schemas.openxmlformats.org/drawingml/2006/main">
            <a:srgbClr val="2F9BD3"/>
          </a:solidFill>
          <a:ln xmlns:a="http://schemas.openxmlformats.org/drawingml/2006/main" w="0">
            <a:noFill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166E639-13EC-449A-AF8C-C4438E74A9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3467100"/>
            <a:ext cx="523875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5E8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BA61D98-E6EE-4DF7-AB16-C4D07A4F32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552825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8C449"/>
          </a:solidFill>
          <a:ln xmlns:a="http://schemas.openxmlformats.org/drawingml/2006/main" w="0">
            <a:noFill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4E4A8A2-F036-45F0-971F-CF601CD119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562350"/>
            <a:ext cx="304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17344D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17344D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496503E-7D6A-4FF9-97FD-45F251AACB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3562350"/>
            <a:ext cx="428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7344D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17344D"/>
                </a:solidFill>
                <a:latin typeface="Noto Sans TC"/>
                <a:ea typeface="Noto Sans TC"/>
                <a:cs typeface="Noto Sans TC"/>
              </a:rPr>
              <a:t>彼此搶路、使用道具干擾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D6D84CC-484D-4864-907A-49E232F2F0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3267075"/>
            <a:ext cx="152400" cy="171450"/>
          </a:xfrm>
          <a:prstGeom xmlns:a="http://schemas.openxmlformats.org/drawingml/2006/main" prst="downArrow">
            <a:avLst/>
          </a:prstGeom>
          <a:solidFill xmlns:a="http://schemas.openxmlformats.org/drawingml/2006/main">
            <a:srgbClr val="2F9BD3"/>
          </a:solidFill>
          <a:ln xmlns:a="http://schemas.openxmlformats.org/drawingml/2006/main" w="0">
            <a:noFill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515378D-585D-48B1-A075-FBFAD51203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4133850"/>
            <a:ext cx="523875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F0FBFB"/>
          </a:solidFill>
          <a:ln xmlns:a="http://schemas.openxmlformats.org/drawingml/2006/main" w="9525">
            <a:solidFill>
              <a:srgbClr val="D7E5E8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E1B3FC6-CD61-49AD-ADE8-D40E5AB727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4219575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8C449"/>
          </a:solidFill>
          <a:ln xmlns:a="http://schemas.openxmlformats.org/drawingml/2006/main" w="0">
            <a:noFill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B8D4598-E6DB-4C45-855F-191452CA73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4229100"/>
            <a:ext cx="304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17344D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17344D"/>
                </a:solidFill>
                <a:latin typeface="Noto Sans TC"/>
                <a:ea typeface="Noto Sans TC"/>
                <a:cs typeface="Noto Sans TC"/>
              </a:rPr>
              <a:t>5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A13407DB-16F5-4E12-81CD-297B4ACD71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4229100"/>
            <a:ext cx="428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7344D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17344D"/>
                </a:solidFill>
                <a:latin typeface="Noto Sans TC"/>
                <a:ea typeface="Noto Sans TC"/>
                <a:cs typeface="Noto Sans TC"/>
              </a:rPr>
              <a:t>失足後回出生點重生並繼續追趕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373F74A-5B46-4CB8-9F9D-D7EF0D360D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3933825"/>
            <a:ext cx="152400" cy="171450"/>
          </a:xfrm>
          <a:prstGeom xmlns:a="http://schemas.openxmlformats.org/drawingml/2006/main" prst="downArrow">
            <a:avLst/>
          </a:prstGeom>
          <a:solidFill xmlns:a="http://schemas.openxmlformats.org/drawingml/2006/main">
            <a:srgbClr val="2F9BD3"/>
          </a:solidFill>
          <a:ln xmlns:a="http://schemas.openxmlformats.org/drawingml/2006/main" w="0">
            <a:noFill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9CE53C8C-CA88-4D9D-A745-9CAC35EC5E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4800600"/>
            <a:ext cx="523875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5E8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06A49C6C-3D09-4CE4-8F7B-E0DD2714A1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4886325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8C449"/>
          </a:solidFill>
          <a:ln xmlns:a="http://schemas.openxmlformats.org/drawingml/2006/main" w="0">
            <a:noFill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75EEA100-95C5-4BB9-AA5C-FBD536ED5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4895850"/>
            <a:ext cx="304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17344D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17344D"/>
                </a:solidFill>
                <a:latin typeface="Noto Sans TC"/>
                <a:ea typeface="Noto Sans TC"/>
                <a:cs typeface="Noto Sans TC"/>
              </a:rPr>
              <a:t>6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57ED978C-4F25-4518-95E7-BAE113484D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4895850"/>
            <a:ext cx="428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7344D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17344D"/>
                </a:solidFill>
                <a:latin typeface="Noto Sans TC"/>
                <a:ea typeface="Noto Sans TC"/>
                <a:cs typeface="Noto Sans TC"/>
              </a:rPr>
              <a:t>局勢持續出現變化與反轉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7A831684-E6F2-4786-B23C-6719AE668D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4600575"/>
            <a:ext cx="152400" cy="171450"/>
          </a:xfrm>
          <a:prstGeom xmlns:a="http://schemas.openxmlformats.org/drawingml/2006/main" prst="downArrow">
            <a:avLst/>
          </a:prstGeom>
          <a:solidFill xmlns:a="http://schemas.openxmlformats.org/drawingml/2006/main">
            <a:srgbClr val="2F9BD3"/>
          </a:solidFill>
          <a:ln xmlns:a="http://schemas.openxmlformats.org/drawingml/2006/main" w="0">
            <a:noFill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5660775E-A2CC-4A7E-880A-8CAA8E106F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5514975"/>
            <a:ext cx="628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7344D"/>
                </a:solidFill>
                <a:latin typeface="Noto Sans TC"/>
                <a:ea typeface="Noto Sans TC"/>
                <a:cs typeface="Noto Sans TC"/>
              </a:defRPr>
            </a:pPr>
            <a:r>
              <a:rPr sz="1575" b="1">
                <a:solidFill>
                  <a:srgbClr val="17344D"/>
                </a:solidFill>
                <a:latin typeface="Noto Sans TC"/>
                <a:ea typeface="Noto Sans TC"/>
                <a:cs typeface="Noto Sans TC"/>
              </a:rPr>
              <a:t>動態場景、體力與道具，共同放大多人互動。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E3F1317B-DE3B-4B2F-89E3-ACFC92EE67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62700"/>
            <a:ext cx="10744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E5E8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95EE7253-4856-4BD5-AA99-F8890F0816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467475"/>
            <a:ext cx="476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57784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0">
                <a:solidFill>
                  <a:srgbClr val="657784"/>
                </a:solidFill>
                <a:latin typeface="Noto Sans TC"/>
                <a:ea typeface="Noto Sans TC"/>
                <a:cs typeface="Noto Sans TC"/>
              </a:rPr>
              <a:t>Traffic Bird｜5 人多人派對玩法擴充提案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44CB0865-A539-4502-BAD5-A12E0A8FE3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67475"/>
            <a:ext cx="5143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657784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0">
                <a:solidFill>
                  <a:srgbClr val="657784"/>
                </a:solidFill>
                <a:latin typeface="Noto Sans TC"/>
                <a:ea typeface="Noto Sans TC"/>
                <a:cs typeface="Noto Sans TC"/>
              </a:rPr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730085573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BFA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628EB36-4A2E-486F-AB27-B57B5E4A28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95300"/>
            <a:ext cx="8382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344D"/>
                </a:solidFill>
                <a:latin typeface="Noto Sans TC"/>
                <a:ea typeface="Noto Sans TC"/>
                <a:cs typeface="Noto Sans TC"/>
              </a:defRPr>
            </a:pPr>
            <a:r>
              <a:rPr sz="2550" b="1">
                <a:solidFill>
                  <a:srgbClr val="17344D"/>
                </a:solidFill>
                <a:latin typeface="Noto Sans TC"/>
                <a:ea typeface="Noto Sans TC"/>
                <a:cs typeface="Noto Sans TC"/>
              </a:rPr>
              <a:t>結論／下一步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F21E619-909D-41F1-8268-2B8CD40B23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133475"/>
            <a:ext cx="628650" cy="571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8C449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BEA27FE-7CC8-49DD-8E22-2D3B371F24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542925"/>
            <a:ext cx="762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200" b="1">
                <a:solidFill>
                  <a:srgbClr val="2F9BD3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2F9BD3"/>
                </a:solidFill>
                <a:latin typeface="Noto Sans TC"/>
                <a:ea typeface="Noto Sans TC"/>
                <a:cs typeface="Noto Sans TC"/>
              </a:rPr>
              <a:t>07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F17C493-5DD1-4CC4-892A-F1C48C409D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1524000"/>
            <a:ext cx="9791700" cy="118110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F0FBFB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C855A51-356E-4B17-8BFC-476A2EEC9B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1733550"/>
            <a:ext cx="92202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7344D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7344D"/>
                </a:solidFill>
                <a:latin typeface="Noto Sans TC"/>
                <a:ea typeface="Noto Sans TC"/>
                <a:cs typeface="Noto Sans TC"/>
              </a:rPr>
              <a:t>以直覺的過馬路玩法為基礎，加入 5 人競爭、動態場景、體力策略與互動道具，</a:t>
            </a:r>
          </a:p>
          <a:p xmlns:a="http://schemas.openxmlformats.org/drawingml/2006/main">
            <a:pPr algn="ctr">
              <a:defRPr sz="1800" b="1">
                <a:solidFill>
                  <a:srgbClr val="17344D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7344D"/>
                </a:solidFill>
                <a:latin typeface="Noto Sans TC"/>
                <a:ea typeface="Noto Sans TC"/>
                <a:cs typeface="Noto Sans TC"/>
              </a:rPr>
              <a:t>打造容易理解、具追趕與互動性的多人派對遊戲。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E52A481-4D6D-4DD3-AFE9-4EE47C24E1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3238500"/>
            <a:ext cx="4572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F9BD3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2F9BD3"/>
                </a:solidFill>
                <a:latin typeface="Noto Sans TC"/>
                <a:ea typeface="Noto Sans TC"/>
                <a:cs typeface="Noto Sans TC"/>
              </a:rPr>
              <a:t>Prototype 優先驗證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10AB479-01A8-4896-AEC1-BDA32A66EC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3810000"/>
            <a:ext cx="1066800" cy="1066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DF5F6"/>
          </a:solidFill>
          <a:ln xmlns:a="http://schemas.openxmlformats.org/drawingml/2006/main" w="9525">
            <a:solidFill>
              <a:srgbClr val="D7E5E8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9EE39E7-2070-471E-A00D-332FF24239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3971925"/>
            <a:ext cx="10668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17344D"/>
                </a:solidFill>
                <a:latin typeface="Noto Sans TC"/>
                <a:ea typeface="Noto Sans TC"/>
                <a:cs typeface="Noto Sans TC"/>
              </a:defRPr>
            </a:pPr>
            <a:r>
              <a:rPr sz="2550" b="1">
                <a:solidFill>
                  <a:srgbClr val="17344D"/>
                </a:solidFill>
                <a:latin typeface="Noto Sans TC"/>
                <a:ea typeface="Noto Sans TC"/>
                <a:cs typeface="Noto Sans TC"/>
              </a:rPr>
              <a:t>動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EA0FC4D-B169-49F8-A25C-99B3B37D69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5019675"/>
            <a:ext cx="2057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7344D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17344D"/>
                </a:solidFill>
                <a:latin typeface="Noto Sans TC"/>
                <a:ea typeface="Noto Sans TC"/>
                <a:cs typeface="Noto Sans TC"/>
              </a:rPr>
              <a:t>動態場景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42C47D7-4E0C-4417-88E7-A8EF8F469E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7850" y="3810000"/>
            <a:ext cx="1066800" cy="1066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4D6"/>
          </a:solidFill>
          <a:ln xmlns:a="http://schemas.openxmlformats.org/drawingml/2006/main" w="9525">
            <a:solidFill>
              <a:srgbClr val="D7E5E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F5824E3-5FE0-4D43-A30E-72BA4703AC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7850" y="3971925"/>
            <a:ext cx="10668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17344D"/>
                </a:solidFill>
                <a:latin typeface="Noto Sans TC"/>
                <a:ea typeface="Noto Sans TC"/>
                <a:cs typeface="Noto Sans TC"/>
              </a:defRPr>
            </a:pPr>
            <a:r>
              <a:rPr sz="2550" b="1">
                <a:solidFill>
                  <a:srgbClr val="17344D"/>
                </a:solidFill>
                <a:latin typeface="Noto Sans TC"/>
                <a:ea typeface="Noto Sans TC"/>
                <a:cs typeface="Noto Sans TC"/>
              </a:rPr>
              <a:t>力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34DC6BF-95CF-4C03-8955-6F4120BA68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2550" y="5019675"/>
            <a:ext cx="2057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7344D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17344D"/>
                </a:solidFill>
                <a:latin typeface="Noto Sans TC"/>
                <a:ea typeface="Noto Sans TC"/>
                <a:cs typeface="Noto Sans TC"/>
              </a:rPr>
              <a:t>體力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E0FD434-2BDC-4991-9412-30D8D3BFDE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3810000"/>
            <a:ext cx="1066800" cy="1066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DEADD"/>
          </a:solidFill>
          <a:ln xmlns:a="http://schemas.openxmlformats.org/drawingml/2006/main" w="9525">
            <a:solidFill>
              <a:srgbClr val="D7E5E8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F57E703-84E5-4CB9-A019-75C755C980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3971925"/>
            <a:ext cx="10668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17344D"/>
                </a:solidFill>
                <a:latin typeface="Noto Sans TC"/>
                <a:ea typeface="Noto Sans TC"/>
                <a:cs typeface="Noto Sans TC"/>
              </a:defRPr>
            </a:pPr>
            <a:r>
              <a:rPr sz="2550" b="1">
                <a:solidFill>
                  <a:srgbClr val="17344D"/>
                </a:solidFill>
                <a:latin typeface="Noto Sans TC"/>
                <a:ea typeface="Noto Sans TC"/>
                <a:cs typeface="Noto Sans TC"/>
              </a:rPr>
              <a:t>具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8F3EBAE-CF00-4549-BFA5-E1670F3BDD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5019675"/>
            <a:ext cx="2057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7344D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17344D"/>
                </a:solidFill>
                <a:latin typeface="Noto Sans TC"/>
                <a:ea typeface="Noto Sans TC"/>
                <a:cs typeface="Noto Sans TC"/>
              </a:rPr>
              <a:t>道具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BB2BD23-1E64-4A4B-A4D1-E71D883340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5581650"/>
            <a:ext cx="7658100" cy="419100"/>
          </a:xfrm>
          <a:prstGeom xmlns:a="http://schemas.openxmlformats.org/drawingml/2006/main" prst="roundRect">
            <a:avLst>
              <a:gd name="adj" fmla="val 36364"/>
            </a:avLst>
          </a:prstGeom>
          <a:solidFill xmlns:a="http://schemas.openxmlformats.org/drawingml/2006/main">
            <a:srgbClr val="FFF4D6"/>
          </a:solidFill>
          <a:ln xmlns:a="http://schemas.openxmlformats.org/drawingml/2006/main" w="0">
            <a:noFill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CBFC0AD-D226-426F-B40F-00C375E579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667375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7344D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17344D"/>
                </a:solidFill>
                <a:latin typeface="Noto Sans TC"/>
                <a:ea typeface="Noto Sans TC"/>
                <a:cs typeface="Noto Sans TC"/>
              </a:rPr>
              <a:t>驗證搶路、互動、追趕與反轉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151ADE3-5FDA-46DE-A67A-4077A5A642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62700"/>
            <a:ext cx="10744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E5E8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5143927-C86E-4B35-9C55-4FCA20B4AD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467475"/>
            <a:ext cx="476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57784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0">
                <a:solidFill>
                  <a:srgbClr val="657784"/>
                </a:solidFill>
                <a:latin typeface="Noto Sans TC"/>
                <a:ea typeface="Noto Sans TC"/>
                <a:cs typeface="Noto Sans TC"/>
              </a:rPr>
              <a:t>Traffic Bird｜5 人多人派對玩法擴充提案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765E5D9-FF1C-45BE-AE1B-A44E70CA01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67475"/>
            <a:ext cx="5143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657784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0">
                <a:solidFill>
                  <a:srgbClr val="657784"/>
                </a:solidFill>
                <a:latin typeface="Noto Sans TC"/>
                <a:ea typeface="Noto Sans TC"/>
                <a:cs typeface="Noto Sans TC"/>
              </a:rPr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1739018361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BFA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4CAFE0F-4EA4-4A37-B59A-9B8675D479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1447800"/>
            <a:ext cx="2571750" cy="2571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DF5F6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ABB1D5D-AB6A-4661-BA6D-3C3F49DF0F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2952750"/>
            <a:ext cx="2190750" cy="2190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4D6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B5D4F4A-2913-4853-AF7F-2C07690907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362200"/>
            <a:ext cx="50482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500" b="1">
                <a:solidFill>
                  <a:srgbClr val="17344D"/>
                </a:solidFill>
                <a:latin typeface="Noto Sans TC"/>
                <a:ea typeface="Noto Sans TC"/>
                <a:cs typeface="Noto Sans TC"/>
              </a:defRPr>
            </a:pPr>
            <a:r>
              <a:rPr sz="4500" b="1">
                <a:solidFill>
                  <a:srgbClr val="17344D"/>
                </a:solidFill>
                <a:latin typeface="Noto Sans TC"/>
                <a:ea typeface="Noto Sans TC"/>
                <a:cs typeface="Noto Sans TC"/>
              </a:rPr>
              <a:t>Q&amp;A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25676B2-1A3E-406F-A3D5-1F0443EB21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429000"/>
            <a:ext cx="3333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2F9BD3"/>
                </a:solidFill>
                <a:latin typeface="Noto Sans TC"/>
                <a:ea typeface="Noto Sans TC"/>
                <a:cs typeface="Noto Sans TC"/>
              </a:defRPr>
            </a:pPr>
            <a:r>
              <a:rPr sz="2100" b="1">
                <a:solidFill>
                  <a:srgbClr val="2F9BD3"/>
                </a:solidFill>
                <a:latin typeface="Noto Sans TC"/>
                <a:ea typeface="Noto Sans TC"/>
                <a:cs typeface="Noto Sans TC"/>
              </a:rPr>
              <a:t>謝謝聆聽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369E26F-E081-4236-A043-91EB548EAC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829175"/>
            <a:ext cx="400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57784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657784"/>
                </a:solidFill>
                <a:latin typeface="Noto Sans TC"/>
                <a:ea typeface="Noto Sans TC"/>
                <a:cs typeface="Noto Sans TC"/>
              </a:rPr>
              <a:t>小鳥過馬路  Traffic Bird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901D731-4E9C-4A3D-846C-51EC7E0EA3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62700"/>
            <a:ext cx="10744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E5E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9FBC5FE-98E3-4D5C-9CCF-38E33572D5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467475"/>
            <a:ext cx="476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57784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0">
                <a:solidFill>
                  <a:srgbClr val="657784"/>
                </a:solidFill>
                <a:latin typeface="Noto Sans TC"/>
                <a:ea typeface="Noto Sans TC"/>
                <a:cs typeface="Noto Sans TC"/>
              </a:rPr>
              <a:t>Traffic Bird｜5 人多人派對玩法擴充提案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FEF1C22-E1DC-44E7-A2E8-566B097939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67475"/>
            <a:ext cx="5143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657784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0">
                <a:solidFill>
                  <a:srgbClr val="657784"/>
                </a:solidFill>
                <a:latin typeface="Noto Sans TC"/>
                <a:ea typeface="Noto Sans TC"/>
                <a:cs typeface="Noto Sans TC"/>
              </a:rPr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1512713515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2026-09-15T10:11:06.5220000Z</dcterms:created>
  <dcterms:modified xsi:type="dcterms:W3CDTF">2026-09-15T10:11:06.5220000Z</dcterms:modified>
</coreProperties>
</file>